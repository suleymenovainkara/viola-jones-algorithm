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4" r:id="rId16"/>
    <p:sldId id="273" r:id="rId17"/>
    <p:sldId id="272" r:id="rId18"/>
    <p:sldId id="275" r:id="rId19"/>
  </p:sldIdLst>
  <p:sldSz cx="12192000" cy="6858000"/>
  <p:notesSz cx="6858000" cy="9144000"/>
  <p:defaultText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6F53FF-A99C-42AB-8DDD-986D842ED491}" v="31" dt="2025-02-12T19:42:18.0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m kk" userId="be1857fa1d370b1c" providerId="LiveId" clId="{596F53FF-A99C-42AB-8DDD-986D842ED491}"/>
    <pc:docChg chg="undo custSel addSld delSld modSld">
      <pc:chgData name="mm kk" userId="be1857fa1d370b1c" providerId="LiveId" clId="{596F53FF-A99C-42AB-8DDD-986D842ED491}" dt="2025-02-12T19:42:23.413" v="415" actId="20577"/>
      <pc:docMkLst>
        <pc:docMk/>
      </pc:docMkLst>
      <pc:sldChg chg="modSp mod">
        <pc:chgData name="mm kk" userId="be1857fa1d370b1c" providerId="LiveId" clId="{596F53FF-A99C-42AB-8DDD-986D842ED491}" dt="2025-02-12T19:19:05.220" v="157" actId="1076"/>
        <pc:sldMkLst>
          <pc:docMk/>
          <pc:sldMk cId="3168717530" sldId="257"/>
        </pc:sldMkLst>
        <pc:spChg chg="mod">
          <ac:chgData name="mm kk" userId="be1857fa1d370b1c" providerId="LiveId" clId="{596F53FF-A99C-42AB-8DDD-986D842ED491}" dt="2025-02-12T19:19:03.517" v="156" actId="1076"/>
          <ac:spMkLst>
            <pc:docMk/>
            <pc:sldMk cId="3168717530" sldId="257"/>
            <ac:spMk id="2" creationId="{EE8C662D-63DB-DF7C-036D-3CA8521C5969}"/>
          </ac:spMkLst>
        </pc:spChg>
        <pc:spChg chg="mod">
          <ac:chgData name="mm kk" userId="be1857fa1d370b1c" providerId="LiveId" clId="{596F53FF-A99C-42AB-8DDD-986D842ED491}" dt="2025-02-12T19:19:05.220" v="157" actId="1076"/>
          <ac:spMkLst>
            <pc:docMk/>
            <pc:sldMk cId="3168717530" sldId="257"/>
            <ac:spMk id="3" creationId="{5998EDA6-B619-3218-6E5A-65DE28FEAD5B}"/>
          </ac:spMkLst>
        </pc:spChg>
      </pc:sldChg>
      <pc:sldChg chg="addSp modSp mod setBg">
        <pc:chgData name="mm kk" userId="be1857fa1d370b1c" providerId="LiveId" clId="{596F53FF-A99C-42AB-8DDD-986D842ED491}" dt="2025-02-12T18:36:53.085" v="7" actId="26606"/>
        <pc:sldMkLst>
          <pc:docMk/>
          <pc:sldMk cId="1783291848" sldId="270"/>
        </pc:sldMkLst>
        <pc:spChg chg="mod">
          <ac:chgData name="mm kk" userId="be1857fa1d370b1c" providerId="LiveId" clId="{596F53FF-A99C-42AB-8DDD-986D842ED491}" dt="2025-02-12T18:36:53.085" v="7" actId="26606"/>
          <ac:spMkLst>
            <pc:docMk/>
            <pc:sldMk cId="1783291848" sldId="270"/>
            <ac:spMk id="2" creationId="{54656D14-BF72-3F37-FB79-CB1B6737D9BD}"/>
          </ac:spMkLst>
        </pc:spChg>
        <pc:spChg chg="add ord">
          <ac:chgData name="mm kk" userId="be1857fa1d370b1c" providerId="LiveId" clId="{596F53FF-A99C-42AB-8DDD-986D842ED491}" dt="2025-02-12T18:36:53.085" v="7" actId="26606"/>
          <ac:spMkLst>
            <pc:docMk/>
            <pc:sldMk cId="1783291848" sldId="270"/>
            <ac:spMk id="3" creationId="{16684BBF-8810-92D1-FD2D-D37638FF7703}"/>
          </ac:spMkLst>
        </pc:spChg>
        <pc:spChg chg="add">
          <ac:chgData name="mm kk" userId="be1857fa1d370b1c" providerId="LiveId" clId="{596F53FF-A99C-42AB-8DDD-986D842ED491}" dt="2025-02-12T18:36:53.085" v="7" actId="26606"/>
          <ac:spMkLst>
            <pc:docMk/>
            <pc:sldMk cId="1783291848" sldId="270"/>
            <ac:spMk id="10" creationId="{68AF5748-FED8-45BA-8631-26D1D10F3246}"/>
          </ac:spMkLst>
        </pc:spChg>
        <pc:spChg chg="add">
          <ac:chgData name="mm kk" userId="be1857fa1d370b1c" providerId="LiveId" clId="{596F53FF-A99C-42AB-8DDD-986D842ED491}" dt="2025-02-12T18:36:53.085" v="7" actId="26606"/>
          <ac:spMkLst>
            <pc:docMk/>
            <pc:sldMk cId="1783291848" sldId="270"/>
            <ac:spMk id="12" creationId="{AF2F604E-43BE-4DC3-B983-E071523364F8}"/>
          </ac:spMkLst>
        </pc:spChg>
        <pc:spChg chg="add">
          <ac:chgData name="mm kk" userId="be1857fa1d370b1c" providerId="LiveId" clId="{596F53FF-A99C-42AB-8DDD-986D842ED491}" dt="2025-02-12T18:36:53.085" v="7" actId="26606"/>
          <ac:spMkLst>
            <pc:docMk/>
            <pc:sldMk cId="1783291848" sldId="270"/>
            <ac:spMk id="14" creationId="{08C9B587-E65E-4B52-B37C-ABEBB6E87928}"/>
          </ac:spMkLst>
        </pc:spChg>
        <pc:picChg chg="add mod">
          <ac:chgData name="mm kk" userId="be1857fa1d370b1c" providerId="LiveId" clId="{596F53FF-A99C-42AB-8DDD-986D842ED491}" dt="2025-02-12T18:36:53.085" v="7" actId="26606"/>
          <ac:picMkLst>
            <pc:docMk/>
            <pc:sldMk cId="1783291848" sldId="270"/>
            <ac:picMk id="5" creationId="{930B530B-79A6-6176-A94A-92E2A802020E}"/>
          </ac:picMkLst>
        </pc:picChg>
      </pc:sldChg>
      <pc:sldChg chg="addSp modSp new del mod setBg">
        <pc:chgData name="mm kk" userId="be1857fa1d370b1c" providerId="LiveId" clId="{596F53FF-A99C-42AB-8DDD-986D842ED491}" dt="2025-02-12T19:16:00.992" v="154" actId="2696"/>
        <pc:sldMkLst>
          <pc:docMk/>
          <pc:sldMk cId="451920521" sldId="271"/>
        </pc:sldMkLst>
        <pc:spChg chg="add mod">
          <ac:chgData name="mm kk" userId="be1857fa1d370b1c" providerId="LiveId" clId="{596F53FF-A99C-42AB-8DDD-986D842ED491}" dt="2025-02-12T18:39:33.144" v="29" actId="26606"/>
          <ac:spMkLst>
            <pc:docMk/>
            <pc:sldMk cId="451920521" sldId="271"/>
            <ac:spMk id="2" creationId="{956F466C-69CF-970A-1126-3B4F8CFFF99D}"/>
          </ac:spMkLst>
        </pc:spChg>
        <pc:spChg chg="add mod">
          <ac:chgData name="mm kk" userId="be1857fa1d370b1c" providerId="LiveId" clId="{596F53FF-A99C-42AB-8DDD-986D842ED491}" dt="2025-02-12T18:39:37.513" v="30" actId="5793"/>
          <ac:spMkLst>
            <pc:docMk/>
            <pc:sldMk cId="451920521" sldId="271"/>
            <ac:spMk id="3" creationId="{DB4D0EE2-C5D0-30F4-78DF-0E55A78BA1A9}"/>
          </ac:spMkLst>
        </pc:spChg>
        <pc:spChg chg="add">
          <ac:chgData name="mm kk" userId="be1857fa1d370b1c" providerId="LiveId" clId="{596F53FF-A99C-42AB-8DDD-986D842ED491}" dt="2025-02-12T18:39:33.144" v="29" actId="26606"/>
          <ac:spMkLst>
            <pc:docMk/>
            <pc:sldMk cId="451920521" sldId="271"/>
            <ac:spMk id="8" creationId="{DAF1966E-FD40-4A4A-B61B-C4DF7FA05F06}"/>
          </ac:spMkLst>
        </pc:spChg>
        <pc:spChg chg="add">
          <ac:chgData name="mm kk" userId="be1857fa1d370b1c" providerId="LiveId" clId="{596F53FF-A99C-42AB-8DDD-986D842ED491}" dt="2025-02-12T18:39:33.144" v="29" actId="26606"/>
          <ac:spMkLst>
            <pc:docMk/>
            <pc:sldMk cId="451920521" sldId="271"/>
            <ac:spMk id="10" creationId="{047BFA19-D45E-416B-A404-7AF2F3F27017}"/>
          </ac:spMkLst>
        </pc:spChg>
        <pc:spChg chg="add">
          <ac:chgData name="mm kk" userId="be1857fa1d370b1c" providerId="LiveId" clId="{596F53FF-A99C-42AB-8DDD-986D842ED491}" dt="2025-02-12T18:39:33.144" v="29" actId="26606"/>
          <ac:spMkLst>
            <pc:docMk/>
            <pc:sldMk cId="451920521" sldId="271"/>
            <ac:spMk id="12" creationId="{8E0105E7-23DB-4CF2-8258-FF47C7620F6E}"/>
          </ac:spMkLst>
        </pc:spChg>
        <pc:spChg chg="add">
          <ac:chgData name="mm kk" userId="be1857fa1d370b1c" providerId="LiveId" clId="{596F53FF-A99C-42AB-8DDD-986D842ED491}" dt="2025-02-12T18:39:33.144" v="29" actId="26606"/>
          <ac:spMkLst>
            <pc:docMk/>
            <pc:sldMk cId="451920521" sldId="271"/>
            <ac:spMk id="14" creationId="{074B4F7D-14B2-478B-8BF5-01E4E0C5D263}"/>
          </ac:spMkLst>
        </pc:spChg>
      </pc:sldChg>
      <pc:sldChg chg="addSp delSp modSp new mod">
        <pc:chgData name="mm kk" userId="be1857fa1d370b1c" providerId="LiveId" clId="{596F53FF-A99C-42AB-8DDD-986D842ED491}" dt="2025-02-12T19:12:45.530" v="138" actId="1076"/>
        <pc:sldMkLst>
          <pc:docMk/>
          <pc:sldMk cId="4101607218" sldId="272"/>
        </pc:sldMkLst>
        <pc:spChg chg="add mod">
          <ac:chgData name="mm kk" userId="be1857fa1d370b1c" providerId="LiveId" clId="{596F53FF-A99C-42AB-8DDD-986D842ED491}" dt="2025-02-12T19:12:44.083" v="137" actId="1076"/>
          <ac:spMkLst>
            <pc:docMk/>
            <pc:sldMk cId="4101607218" sldId="272"/>
            <ac:spMk id="2" creationId="{9FC63BFC-A86A-34F2-17C0-F11E60EEE38E}"/>
          </ac:spMkLst>
        </pc:spChg>
        <pc:picChg chg="add del mod">
          <ac:chgData name="mm kk" userId="be1857fa1d370b1c" providerId="LiveId" clId="{596F53FF-A99C-42AB-8DDD-986D842ED491}" dt="2025-02-12T19:12:38.357" v="134" actId="478"/>
          <ac:picMkLst>
            <pc:docMk/>
            <pc:sldMk cId="4101607218" sldId="272"/>
            <ac:picMk id="14338" creationId="{610B0B14-AA12-3232-B37E-763FD33ABD10}"/>
          </ac:picMkLst>
        </pc:picChg>
        <pc:picChg chg="add mod">
          <ac:chgData name="mm kk" userId="be1857fa1d370b1c" providerId="LiveId" clId="{596F53FF-A99C-42AB-8DDD-986D842ED491}" dt="2025-02-12T19:12:45.530" v="138" actId="1076"/>
          <ac:picMkLst>
            <pc:docMk/>
            <pc:sldMk cId="4101607218" sldId="272"/>
            <ac:picMk id="14340" creationId="{F8C1F9F8-D468-BB14-B808-0B6FE087FD10}"/>
          </ac:picMkLst>
        </pc:picChg>
      </pc:sldChg>
      <pc:sldChg chg="addSp modSp new mod">
        <pc:chgData name="mm kk" userId="be1857fa1d370b1c" providerId="LiveId" clId="{596F53FF-A99C-42AB-8DDD-986D842ED491}" dt="2025-02-12T18:43:08.066" v="127" actId="1076"/>
        <pc:sldMkLst>
          <pc:docMk/>
          <pc:sldMk cId="4155577841" sldId="273"/>
        </pc:sldMkLst>
        <pc:spChg chg="add mod">
          <ac:chgData name="mm kk" userId="be1857fa1d370b1c" providerId="LiveId" clId="{596F53FF-A99C-42AB-8DDD-986D842ED491}" dt="2025-02-12T18:43:08.066" v="127" actId="1076"/>
          <ac:spMkLst>
            <pc:docMk/>
            <pc:sldMk cId="4155577841" sldId="273"/>
            <ac:spMk id="2" creationId="{084CFF86-A7A4-8CB7-FFBD-71943D2F07E1}"/>
          </ac:spMkLst>
        </pc:spChg>
        <pc:picChg chg="add mod">
          <ac:chgData name="mm kk" userId="be1857fa1d370b1c" providerId="LiveId" clId="{596F53FF-A99C-42AB-8DDD-986D842ED491}" dt="2025-02-12T18:41:41.304" v="71" actId="1076"/>
          <ac:picMkLst>
            <pc:docMk/>
            <pc:sldMk cId="4155577841" sldId="273"/>
            <ac:picMk id="15362" creationId="{773E4A2A-FF90-4117-A71F-5329870BE1BA}"/>
          </ac:picMkLst>
        </pc:picChg>
      </pc:sldChg>
      <pc:sldChg chg="addSp modSp new mod">
        <pc:chgData name="mm kk" userId="be1857fa1d370b1c" providerId="LiveId" clId="{596F53FF-A99C-42AB-8DDD-986D842ED491}" dt="2025-02-12T19:17:54.211" v="155" actId="1076"/>
        <pc:sldMkLst>
          <pc:docMk/>
          <pc:sldMk cId="835223286" sldId="274"/>
        </pc:sldMkLst>
        <pc:spChg chg="add mod">
          <ac:chgData name="mm kk" userId="be1857fa1d370b1c" providerId="LiveId" clId="{596F53FF-A99C-42AB-8DDD-986D842ED491}" dt="2025-02-12T19:15:58.257" v="153" actId="1076"/>
          <ac:spMkLst>
            <pc:docMk/>
            <pc:sldMk cId="835223286" sldId="274"/>
            <ac:spMk id="3" creationId="{E7714985-A988-4D2D-4158-F23AF62C27B1}"/>
          </ac:spMkLst>
        </pc:spChg>
        <pc:spChg chg="add mod">
          <ac:chgData name="mm kk" userId="be1857fa1d370b1c" providerId="LiveId" clId="{596F53FF-A99C-42AB-8DDD-986D842ED491}" dt="2025-02-12T19:17:54.211" v="155" actId="1076"/>
          <ac:spMkLst>
            <pc:docMk/>
            <pc:sldMk cId="835223286" sldId="274"/>
            <ac:spMk id="5" creationId="{8202C264-EC04-2A41-139E-6F79FCF84F3A}"/>
          </ac:spMkLst>
        </pc:spChg>
        <pc:picChg chg="add mod">
          <ac:chgData name="mm kk" userId="be1857fa1d370b1c" providerId="LiveId" clId="{596F53FF-A99C-42AB-8DDD-986D842ED491}" dt="2025-02-12T19:15:56.112" v="152" actId="1076"/>
          <ac:picMkLst>
            <pc:docMk/>
            <pc:sldMk cId="835223286" sldId="274"/>
            <ac:picMk id="17410" creationId="{96BF4330-0131-F389-DF0A-D658C2551059}"/>
          </ac:picMkLst>
        </pc:picChg>
      </pc:sldChg>
      <pc:sldChg chg="addSp modSp new del mod">
        <pc:chgData name="mm kk" userId="be1857fa1d370b1c" providerId="LiveId" clId="{596F53FF-A99C-42AB-8DDD-986D842ED491}" dt="2025-02-12T19:12:00.759" v="133" actId="2696"/>
        <pc:sldMkLst>
          <pc:docMk/>
          <pc:sldMk cId="3489510768" sldId="274"/>
        </pc:sldMkLst>
        <pc:spChg chg="add mod">
          <ac:chgData name="mm kk" userId="be1857fa1d370b1c" providerId="LiveId" clId="{596F53FF-A99C-42AB-8DDD-986D842ED491}" dt="2025-02-12T18:43:39.724" v="132" actId="1076"/>
          <ac:spMkLst>
            <pc:docMk/>
            <pc:sldMk cId="3489510768" sldId="274"/>
            <ac:spMk id="2" creationId="{614D2294-E774-08B4-05D7-93F82F0B1004}"/>
          </ac:spMkLst>
        </pc:spChg>
        <pc:picChg chg="add mod">
          <ac:chgData name="mm kk" userId="be1857fa1d370b1c" providerId="LiveId" clId="{596F53FF-A99C-42AB-8DDD-986D842ED491}" dt="2025-02-12T18:43:30.299" v="130" actId="1076"/>
          <ac:picMkLst>
            <pc:docMk/>
            <pc:sldMk cId="3489510768" sldId="274"/>
            <ac:picMk id="16386" creationId="{AC04DD8F-E9D9-A15E-24CD-D1639AEBEA59}"/>
          </ac:picMkLst>
        </pc:picChg>
      </pc:sldChg>
      <pc:sldChg chg="addSp delSp modSp new mod">
        <pc:chgData name="mm kk" userId="be1857fa1d370b1c" providerId="LiveId" clId="{596F53FF-A99C-42AB-8DDD-986D842ED491}" dt="2025-02-12T19:42:23.413" v="415" actId="20577"/>
        <pc:sldMkLst>
          <pc:docMk/>
          <pc:sldMk cId="3304831784" sldId="275"/>
        </pc:sldMkLst>
        <pc:spChg chg="add mod">
          <ac:chgData name="mm kk" userId="be1857fa1d370b1c" providerId="LiveId" clId="{596F53FF-A99C-42AB-8DDD-986D842ED491}" dt="2025-02-12T19:24:31.870" v="163" actId="255"/>
          <ac:spMkLst>
            <pc:docMk/>
            <pc:sldMk cId="3304831784" sldId="275"/>
            <ac:spMk id="3" creationId="{440597BB-FD20-0F1F-1E55-5F2D95ABA583}"/>
          </ac:spMkLst>
        </pc:spChg>
        <pc:spChg chg="add mod">
          <ac:chgData name="mm kk" userId="be1857fa1d370b1c" providerId="LiveId" clId="{596F53FF-A99C-42AB-8DDD-986D842ED491}" dt="2025-02-12T19:42:23.413" v="415" actId="20577"/>
          <ac:spMkLst>
            <pc:docMk/>
            <pc:sldMk cId="3304831784" sldId="275"/>
            <ac:spMk id="5" creationId="{62FBF355-90E6-6D93-9705-0E2358FBA523}"/>
          </ac:spMkLst>
        </pc:spChg>
        <pc:picChg chg="add del">
          <ac:chgData name="mm kk" userId="be1857fa1d370b1c" providerId="LiveId" clId="{596F53FF-A99C-42AB-8DDD-986D842ED491}" dt="2025-02-12T19:35:54.148" v="210" actId="22"/>
          <ac:picMkLst>
            <pc:docMk/>
            <pc:sldMk cId="3304831784" sldId="275"/>
            <ac:picMk id="7" creationId="{DACCEF26-A586-C1A2-118B-CDF3FC22723A}"/>
          </ac:picMkLst>
        </pc:picChg>
      </pc:sldChg>
      <pc:sldChg chg="new del">
        <pc:chgData name="mm kk" userId="be1857fa1d370b1c" providerId="LiveId" clId="{596F53FF-A99C-42AB-8DDD-986D842ED491}" dt="2025-02-12T19:23:54.742" v="159" actId="2696"/>
        <pc:sldMkLst>
          <pc:docMk/>
          <pc:sldMk cId="3402607881" sldId="27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B65988-3662-83EF-D5ED-6EEA71C42B6B}"/>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ru-KZ"/>
          </a:p>
        </p:txBody>
      </p:sp>
      <p:sp>
        <p:nvSpPr>
          <p:cNvPr id="3" name="Подзаголовок 2">
            <a:extLst>
              <a:ext uri="{FF2B5EF4-FFF2-40B4-BE49-F238E27FC236}">
                <a16:creationId xmlns:a16="http://schemas.microsoft.com/office/drawing/2014/main" id="{AAF53857-30C5-F85A-9633-04DD3C2544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ru-KZ"/>
          </a:p>
        </p:txBody>
      </p:sp>
      <p:sp>
        <p:nvSpPr>
          <p:cNvPr id="4" name="Дата 3">
            <a:extLst>
              <a:ext uri="{FF2B5EF4-FFF2-40B4-BE49-F238E27FC236}">
                <a16:creationId xmlns:a16="http://schemas.microsoft.com/office/drawing/2014/main" id="{F5CB3805-A72F-2465-10CE-24034C9DF532}"/>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5" name="Нижний колонтитул 4">
            <a:extLst>
              <a:ext uri="{FF2B5EF4-FFF2-40B4-BE49-F238E27FC236}">
                <a16:creationId xmlns:a16="http://schemas.microsoft.com/office/drawing/2014/main" id="{8631BD66-97F8-1953-B75F-8F7EE48FA873}"/>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E16A8E91-B3CB-C284-176F-3B495C906E1F}"/>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3764157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DC73C8-5792-2022-3121-0B9BD9EC656F}"/>
              </a:ext>
            </a:extLst>
          </p:cNvPr>
          <p:cNvSpPr>
            <a:spLocks noGrp="1"/>
          </p:cNvSpPr>
          <p:nvPr>
            <p:ph type="title"/>
          </p:nvPr>
        </p:nvSpPr>
        <p:spPr/>
        <p:txBody>
          <a:bodyPr/>
          <a:lstStyle/>
          <a:p>
            <a:r>
              <a:rPr lang="ru-RU"/>
              <a:t>Образец заголовка</a:t>
            </a:r>
            <a:endParaRPr lang="ru-KZ"/>
          </a:p>
        </p:txBody>
      </p:sp>
      <p:sp>
        <p:nvSpPr>
          <p:cNvPr id="3" name="Объект 2">
            <a:extLst>
              <a:ext uri="{FF2B5EF4-FFF2-40B4-BE49-F238E27FC236}">
                <a16:creationId xmlns:a16="http://schemas.microsoft.com/office/drawing/2014/main" id="{EDB7F0A2-C869-6876-154F-971A35E5703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546DCD3A-272F-556B-1D33-22CF4E8EAA0B}"/>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5" name="Нижний колонтитул 4">
            <a:extLst>
              <a:ext uri="{FF2B5EF4-FFF2-40B4-BE49-F238E27FC236}">
                <a16:creationId xmlns:a16="http://schemas.microsoft.com/office/drawing/2014/main" id="{E71CE5CA-880C-48C9-3165-EAC71A103B6C}"/>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9C1D7E03-5457-FD35-24A6-D8F34F42993B}"/>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2725682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F310E5-8361-4F49-B1F5-B41AF6397201}"/>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ru-KZ"/>
          </a:p>
        </p:txBody>
      </p:sp>
      <p:sp>
        <p:nvSpPr>
          <p:cNvPr id="3" name="Текст 2">
            <a:extLst>
              <a:ext uri="{FF2B5EF4-FFF2-40B4-BE49-F238E27FC236}">
                <a16:creationId xmlns:a16="http://schemas.microsoft.com/office/drawing/2014/main" id="{7C7163F6-0767-03F6-384D-2090B2466E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9EFAC73F-966C-0E46-2C21-FE0DBB3150B2}"/>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5" name="Нижний колонтитул 4">
            <a:extLst>
              <a:ext uri="{FF2B5EF4-FFF2-40B4-BE49-F238E27FC236}">
                <a16:creationId xmlns:a16="http://schemas.microsoft.com/office/drawing/2014/main" id="{72EBE5FA-66BE-FCC9-EC24-7A91CF55FC09}"/>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804ADFC9-CCF0-88E2-E488-CF0926BFBDC0}"/>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2935666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9C5E3F-5BBC-DBB1-8294-CE5655221992}"/>
              </a:ext>
            </a:extLst>
          </p:cNvPr>
          <p:cNvSpPr>
            <a:spLocks noGrp="1"/>
          </p:cNvSpPr>
          <p:nvPr>
            <p:ph type="title"/>
          </p:nvPr>
        </p:nvSpPr>
        <p:spPr/>
        <p:txBody>
          <a:bodyPr/>
          <a:lstStyle/>
          <a:p>
            <a:r>
              <a:rPr lang="ru-RU"/>
              <a:t>Образец заголовка</a:t>
            </a:r>
            <a:endParaRPr lang="ru-KZ"/>
          </a:p>
        </p:txBody>
      </p:sp>
      <p:sp>
        <p:nvSpPr>
          <p:cNvPr id="3" name="Объект 2">
            <a:extLst>
              <a:ext uri="{FF2B5EF4-FFF2-40B4-BE49-F238E27FC236}">
                <a16:creationId xmlns:a16="http://schemas.microsoft.com/office/drawing/2014/main" id="{4ABC5A28-7CE9-815D-720C-19DA25B65127}"/>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Объект 3">
            <a:extLst>
              <a:ext uri="{FF2B5EF4-FFF2-40B4-BE49-F238E27FC236}">
                <a16:creationId xmlns:a16="http://schemas.microsoft.com/office/drawing/2014/main" id="{6A16B5C5-BC41-ACF7-E775-DB10DC9A586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5" name="Дата 4">
            <a:extLst>
              <a:ext uri="{FF2B5EF4-FFF2-40B4-BE49-F238E27FC236}">
                <a16:creationId xmlns:a16="http://schemas.microsoft.com/office/drawing/2014/main" id="{44D7CFD3-6264-164B-16EF-0A5ACAAFDA9D}"/>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6" name="Нижний колонтитул 5">
            <a:extLst>
              <a:ext uri="{FF2B5EF4-FFF2-40B4-BE49-F238E27FC236}">
                <a16:creationId xmlns:a16="http://schemas.microsoft.com/office/drawing/2014/main" id="{1C7B745D-B849-0307-2740-2D14C9018D9C}"/>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id="{57BBF7D1-2A72-7DBB-3B33-582AEFCC654D}"/>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935490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9AFC9B-6663-D59B-7869-ADC1D9E8F0C3}"/>
              </a:ext>
            </a:extLst>
          </p:cNvPr>
          <p:cNvSpPr>
            <a:spLocks noGrp="1"/>
          </p:cNvSpPr>
          <p:nvPr>
            <p:ph type="title"/>
          </p:nvPr>
        </p:nvSpPr>
        <p:spPr>
          <a:xfrm>
            <a:off x="839788" y="365125"/>
            <a:ext cx="10515600" cy="1325563"/>
          </a:xfrm>
        </p:spPr>
        <p:txBody>
          <a:bodyPr/>
          <a:lstStyle/>
          <a:p>
            <a:r>
              <a:rPr lang="ru-RU"/>
              <a:t>Образец заголовка</a:t>
            </a:r>
            <a:endParaRPr lang="ru-KZ"/>
          </a:p>
        </p:txBody>
      </p:sp>
      <p:sp>
        <p:nvSpPr>
          <p:cNvPr id="3" name="Текст 2">
            <a:extLst>
              <a:ext uri="{FF2B5EF4-FFF2-40B4-BE49-F238E27FC236}">
                <a16:creationId xmlns:a16="http://schemas.microsoft.com/office/drawing/2014/main" id="{7CDDCD64-A3CF-2541-CF99-E2020AE85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A3D06D4-D644-5357-57CD-F17C12DC4AD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5" name="Текст 4">
            <a:extLst>
              <a:ext uri="{FF2B5EF4-FFF2-40B4-BE49-F238E27FC236}">
                <a16:creationId xmlns:a16="http://schemas.microsoft.com/office/drawing/2014/main" id="{FE0F760D-7284-71F7-ECEB-92EFCD2F57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7E23314-7FA0-8B2F-9FE8-FBE63F9ED9F1}"/>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7" name="Дата 6">
            <a:extLst>
              <a:ext uri="{FF2B5EF4-FFF2-40B4-BE49-F238E27FC236}">
                <a16:creationId xmlns:a16="http://schemas.microsoft.com/office/drawing/2014/main" id="{0BD10576-31F5-D118-C113-ACCF3DD324EA}"/>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8" name="Нижний колонтитул 7">
            <a:extLst>
              <a:ext uri="{FF2B5EF4-FFF2-40B4-BE49-F238E27FC236}">
                <a16:creationId xmlns:a16="http://schemas.microsoft.com/office/drawing/2014/main" id="{AC0BAAD2-A471-A655-CE3A-BB62F66794DC}"/>
              </a:ext>
            </a:extLst>
          </p:cNvPr>
          <p:cNvSpPr>
            <a:spLocks noGrp="1"/>
          </p:cNvSpPr>
          <p:nvPr>
            <p:ph type="ftr" sz="quarter" idx="11"/>
          </p:nvPr>
        </p:nvSpPr>
        <p:spPr/>
        <p:txBody>
          <a:bodyPr/>
          <a:lstStyle/>
          <a:p>
            <a:endParaRPr lang="ru-KZ"/>
          </a:p>
        </p:txBody>
      </p:sp>
      <p:sp>
        <p:nvSpPr>
          <p:cNvPr id="9" name="Номер слайда 8">
            <a:extLst>
              <a:ext uri="{FF2B5EF4-FFF2-40B4-BE49-F238E27FC236}">
                <a16:creationId xmlns:a16="http://schemas.microsoft.com/office/drawing/2014/main" id="{FC0267AB-F342-AB7E-7A6A-EFE785FD55E5}"/>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1969472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273179-8EC1-E720-BAD2-56F6F29545E7}"/>
              </a:ext>
            </a:extLst>
          </p:cNvPr>
          <p:cNvSpPr>
            <a:spLocks noGrp="1"/>
          </p:cNvSpPr>
          <p:nvPr>
            <p:ph type="title"/>
          </p:nvPr>
        </p:nvSpPr>
        <p:spPr/>
        <p:txBody>
          <a:bodyPr/>
          <a:lstStyle/>
          <a:p>
            <a:r>
              <a:rPr lang="ru-RU"/>
              <a:t>Образец заголовка</a:t>
            </a:r>
            <a:endParaRPr lang="ru-KZ"/>
          </a:p>
        </p:txBody>
      </p:sp>
      <p:sp>
        <p:nvSpPr>
          <p:cNvPr id="3" name="Дата 2">
            <a:extLst>
              <a:ext uri="{FF2B5EF4-FFF2-40B4-BE49-F238E27FC236}">
                <a16:creationId xmlns:a16="http://schemas.microsoft.com/office/drawing/2014/main" id="{566FA252-FC95-9FCB-7561-5F2B894E9A3A}"/>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4" name="Нижний колонтитул 3">
            <a:extLst>
              <a:ext uri="{FF2B5EF4-FFF2-40B4-BE49-F238E27FC236}">
                <a16:creationId xmlns:a16="http://schemas.microsoft.com/office/drawing/2014/main" id="{7E6B7200-259A-A8E3-D929-99D875F7CF42}"/>
              </a:ext>
            </a:extLst>
          </p:cNvPr>
          <p:cNvSpPr>
            <a:spLocks noGrp="1"/>
          </p:cNvSpPr>
          <p:nvPr>
            <p:ph type="ftr" sz="quarter" idx="11"/>
          </p:nvPr>
        </p:nvSpPr>
        <p:spPr/>
        <p:txBody>
          <a:bodyPr/>
          <a:lstStyle/>
          <a:p>
            <a:endParaRPr lang="ru-KZ"/>
          </a:p>
        </p:txBody>
      </p:sp>
      <p:sp>
        <p:nvSpPr>
          <p:cNvPr id="5" name="Номер слайда 4">
            <a:extLst>
              <a:ext uri="{FF2B5EF4-FFF2-40B4-BE49-F238E27FC236}">
                <a16:creationId xmlns:a16="http://schemas.microsoft.com/office/drawing/2014/main" id="{285F3AEA-CDB6-6121-BECC-2E661ECEF807}"/>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24744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8DCA081-0453-358B-DF02-5BFE7E075903}"/>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3" name="Нижний колонтитул 2">
            <a:extLst>
              <a:ext uri="{FF2B5EF4-FFF2-40B4-BE49-F238E27FC236}">
                <a16:creationId xmlns:a16="http://schemas.microsoft.com/office/drawing/2014/main" id="{09F0C4B5-B9B9-3390-1924-5B11E3D2F8FD}"/>
              </a:ext>
            </a:extLst>
          </p:cNvPr>
          <p:cNvSpPr>
            <a:spLocks noGrp="1"/>
          </p:cNvSpPr>
          <p:nvPr>
            <p:ph type="ftr" sz="quarter" idx="11"/>
          </p:nvPr>
        </p:nvSpPr>
        <p:spPr/>
        <p:txBody>
          <a:bodyPr/>
          <a:lstStyle/>
          <a:p>
            <a:endParaRPr lang="ru-KZ"/>
          </a:p>
        </p:txBody>
      </p:sp>
      <p:sp>
        <p:nvSpPr>
          <p:cNvPr id="4" name="Номер слайда 3">
            <a:extLst>
              <a:ext uri="{FF2B5EF4-FFF2-40B4-BE49-F238E27FC236}">
                <a16:creationId xmlns:a16="http://schemas.microsoft.com/office/drawing/2014/main" id="{2D0D9C08-B3AE-024B-17B4-402DD1E88434}"/>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3485744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B14914-5B69-1965-E674-E0A73C6E236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KZ"/>
          </a:p>
        </p:txBody>
      </p:sp>
      <p:sp>
        <p:nvSpPr>
          <p:cNvPr id="3" name="Объект 2">
            <a:extLst>
              <a:ext uri="{FF2B5EF4-FFF2-40B4-BE49-F238E27FC236}">
                <a16:creationId xmlns:a16="http://schemas.microsoft.com/office/drawing/2014/main" id="{CF346BD1-455D-2838-E210-12955ABDD2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Текст 3">
            <a:extLst>
              <a:ext uri="{FF2B5EF4-FFF2-40B4-BE49-F238E27FC236}">
                <a16:creationId xmlns:a16="http://schemas.microsoft.com/office/drawing/2014/main" id="{8C093152-08B4-E0F6-E45E-322F60F74A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926F185-73C1-32F3-3226-8B3651056BBC}"/>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6" name="Нижний колонтитул 5">
            <a:extLst>
              <a:ext uri="{FF2B5EF4-FFF2-40B4-BE49-F238E27FC236}">
                <a16:creationId xmlns:a16="http://schemas.microsoft.com/office/drawing/2014/main" id="{60EE1035-E759-494C-81F9-8C3DC3CA8BF1}"/>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id="{10AE479B-3DFF-11EF-8705-6E31AF127E55}"/>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4294185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CAD224-6201-6255-A848-41A3390FA55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KZ"/>
          </a:p>
        </p:txBody>
      </p:sp>
      <p:sp>
        <p:nvSpPr>
          <p:cNvPr id="3" name="Рисунок 2">
            <a:extLst>
              <a:ext uri="{FF2B5EF4-FFF2-40B4-BE49-F238E27FC236}">
                <a16:creationId xmlns:a16="http://schemas.microsoft.com/office/drawing/2014/main" id="{C15A0171-B0E3-F32A-96BD-5C6C4BA0AD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KZ"/>
          </a:p>
        </p:txBody>
      </p:sp>
      <p:sp>
        <p:nvSpPr>
          <p:cNvPr id="4" name="Текст 3">
            <a:extLst>
              <a:ext uri="{FF2B5EF4-FFF2-40B4-BE49-F238E27FC236}">
                <a16:creationId xmlns:a16="http://schemas.microsoft.com/office/drawing/2014/main" id="{4C63CE24-C43F-BDF0-1D0F-2BC684365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BD78CAF-CCB4-CD0A-EE7B-2FED1EEA4A01}"/>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6" name="Нижний колонтитул 5">
            <a:extLst>
              <a:ext uri="{FF2B5EF4-FFF2-40B4-BE49-F238E27FC236}">
                <a16:creationId xmlns:a16="http://schemas.microsoft.com/office/drawing/2014/main" id="{95EA5B60-A07A-1198-4822-D9C5C9229F92}"/>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id="{46F14263-98FD-A076-C1C8-64D74A5DE4AE}"/>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153598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4945BF-D434-43D6-3A6B-3FB6523D6E8B}"/>
              </a:ext>
            </a:extLst>
          </p:cNvPr>
          <p:cNvSpPr>
            <a:spLocks noGrp="1"/>
          </p:cNvSpPr>
          <p:nvPr>
            <p:ph type="title"/>
          </p:nvPr>
        </p:nvSpPr>
        <p:spPr/>
        <p:txBody>
          <a:bodyPr/>
          <a:lstStyle/>
          <a:p>
            <a:r>
              <a:rPr lang="ru-RU"/>
              <a:t>Образец заголовка</a:t>
            </a:r>
            <a:endParaRPr lang="ru-KZ"/>
          </a:p>
        </p:txBody>
      </p:sp>
      <p:sp>
        <p:nvSpPr>
          <p:cNvPr id="3" name="Вертикальный текст 2">
            <a:extLst>
              <a:ext uri="{FF2B5EF4-FFF2-40B4-BE49-F238E27FC236}">
                <a16:creationId xmlns:a16="http://schemas.microsoft.com/office/drawing/2014/main" id="{B79D40FB-1FE9-792B-C488-D6FA60ABE340}"/>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5C1EDD3B-0650-B325-D27F-BD79B4D46044}"/>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5" name="Нижний колонтитул 4">
            <a:extLst>
              <a:ext uri="{FF2B5EF4-FFF2-40B4-BE49-F238E27FC236}">
                <a16:creationId xmlns:a16="http://schemas.microsoft.com/office/drawing/2014/main" id="{934EEE49-37CF-8E12-6A65-5231F3A65EF7}"/>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06EA8894-C8D4-ECC4-1C6A-39CA9B32952C}"/>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1622068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586F316-F459-0C50-8997-F764658C3B7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ru-KZ"/>
          </a:p>
        </p:txBody>
      </p:sp>
      <p:sp>
        <p:nvSpPr>
          <p:cNvPr id="3" name="Вертикальный текст 2">
            <a:extLst>
              <a:ext uri="{FF2B5EF4-FFF2-40B4-BE49-F238E27FC236}">
                <a16:creationId xmlns:a16="http://schemas.microsoft.com/office/drawing/2014/main" id="{E5376BFB-994A-6A4A-FF03-3B7A21CEC3D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83C48A9B-06FE-4CDE-164C-7BE3F97264E8}"/>
              </a:ext>
            </a:extLst>
          </p:cNvPr>
          <p:cNvSpPr>
            <a:spLocks noGrp="1"/>
          </p:cNvSpPr>
          <p:nvPr>
            <p:ph type="dt" sz="half" idx="10"/>
          </p:nvPr>
        </p:nvSpPr>
        <p:spPr/>
        <p:txBody>
          <a:bodyPr/>
          <a:lstStyle/>
          <a:p>
            <a:fld id="{1314BBB4-4569-4EEB-8B6E-6E27075466F3}" type="datetimeFigureOut">
              <a:rPr lang="ru-KZ" smtClean="0"/>
              <a:t>13.02.2025</a:t>
            </a:fld>
            <a:endParaRPr lang="ru-KZ"/>
          </a:p>
        </p:txBody>
      </p:sp>
      <p:sp>
        <p:nvSpPr>
          <p:cNvPr id="5" name="Нижний колонтитул 4">
            <a:extLst>
              <a:ext uri="{FF2B5EF4-FFF2-40B4-BE49-F238E27FC236}">
                <a16:creationId xmlns:a16="http://schemas.microsoft.com/office/drawing/2014/main" id="{C558ABF0-43E3-63F1-57D3-D08904834CD6}"/>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CE934E59-3A83-C4C3-71A1-F763412EB481}"/>
              </a:ext>
            </a:extLst>
          </p:cNvPr>
          <p:cNvSpPr>
            <a:spLocks noGrp="1"/>
          </p:cNvSpPr>
          <p:nvPr>
            <p:ph type="sldNum" sz="quarter" idx="12"/>
          </p:nvPr>
        </p:nvSpPr>
        <p:spPr/>
        <p:txBody>
          <a:bodyPr/>
          <a:lstStyle/>
          <a:p>
            <a:fld id="{BD90D7BA-E288-443F-A4F7-4F689A99642A}" type="slidenum">
              <a:rPr lang="ru-KZ" smtClean="0"/>
              <a:t>‹#›</a:t>
            </a:fld>
            <a:endParaRPr lang="ru-KZ"/>
          </a:p>
        </p:txBody>
      </p:sp>
    </p:spTree>
    <p:extLst>
      <p:ext uri="{BB962C8B-B14F-4D97-AF65-F5344CB8AC3E}">
        <p14:creationId xmlns:p14="http://schemas.microsoft.com/office/powerpoint/2010/main" val="2493674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1810D-5F1D-85E2-1265-1AF574AA2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ru-KZ"/>
          </a:p>
        </p:txBody>
      </p:sp>
      <p:sp>
        <p:nvSpPr>
          <p:cNvPr id="3" name="Текст 2">
            <a:extLst>
              <a:ext uri="{FF2B5EF4-FFF2-40B4-BE49-F238E27FC236}">
                <a16:creationId xmlns:a16="http://schemas.microsoft.com/office/drawing/2014/main" id="{35FE2806-2166-7AB5-261B-87DCB6DD9C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FE39049A-32D7-3CB6-6080-697B8CEAE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14BBB4-4569-4EEB-8B6E-6E27075466F3}" type="datetimeFigureOut">
              <a:rPr lang="ru-KZ" smtClean="0"/>
              <a:t>13.02.2025</a:t>
            </a:fld>
            <a:endParaRPr lang="ru-KZ"/>
          </a:p>
        </p:txBody>
      </p:sp>
      <p:sp>
        <p:nvSpPr>
          <p:cNvPr id="5" name="Нижний колонтитул 4">
            <a:extLst>
              <a:ext uri="{FF2B5EF4-FFF2-40B4-BE49-F238E27FC236}">
                <a16:creationId xmlns:a16="http://schemas.microsoft.com/office/drawing/2014/main" id="{7BE97A19-EF70-0D56-0721-5E691646E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KZ"/>
          </a:p>
        </p:txBody>
      </p:sp>
      <p:sp>
        <p:nvSpPr>
          <p:cNvPr id="6" name="Номер слайда 5">
            <a:extLst>
              <a:ext uri="{FF2B5EF4-FFF2-40B4-BE49-F238E27FC236}">
                <a16:creationId xmlns:a16="http://schemas.microsoft.com/office/drawing/2014/main" id="{943A9292-D3FA-04E9-5D36-B7CA9284BE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90D7BA-E288-443F-A4F7-4F689A99642A}" type="slidenum">
              <a:rPr lang="ru-KZ" smtClean="0"/>
              <a:t>‹#›</a:t>
            </a:fld>
            <a:endParaRPr lang="ru-KZ"/>
          </a:p>
        </p:txBody>
      </p:sp>
    </p:spTree>
    <p:extLst>
      <p:ext uri="{BB962C8B-B14F-4D97-AF65-F5344CB8AC3E}">
        <p14:creationId xmlns:p14="http://schemas.microsoft.com/office/powerpoint/2010/main" val="1945290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mygreatlearning.com/blog/author/greatlearning/" TargetMode="External"/><Relationship Id="rId7" Type="http://schemas.openxmlformats.org/officeDocument/2006/relationships/hyperlink" Target="https://medium.com/@aaronward6210/facial-detection-understanding-viola-jones-algorithm-116d1a9db218" TargetMode="External"/><Relationship Id="rId2" Type="http://schemas.openxmlformats.org/officeDocument/2006/relationships/hyperlink" Target="https://www.geeksforgeeks.org/face-detection-using-cascade-classifier-using-opencv-python/" TargetMode="External"/><Relationship Id="rId1" Type="http://schemas.openxmlformats.org/officeDocument/2006/relationships/slideLayout" Target="../slideLayouts/slideLayout7.xml"/><Relationship Id="rId6" Type="http://schemas.openxmlformats.org/officeDocument/2006/relationships/hyperlink" Target="https://korlakuntasaikamal10.medium.com/face-detection-using-viola-jones-haar-cascade-classifiers-d514dc3e1709" TargetMode="External"/><Relationship Id="rId5" Type="http://schemas.openxmlformats.org/officeDocument/2006/relationships/hyperlink" Target="https://medium.com/@Andrew_D./computer-vision-viola-jones-object-detection-d2a609527b7c" TargetMode="External"/><Relationship Id="rId4" Type="http://schemas.openxmlformats.org/officeDocument/2006/relationships/hyperlink" Target="https://www.mygreatlearning.com/blog/viola-jones-algorith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C662D-63DB-DF7C-036D-3CA8521C5969}"/>
              </a:ext>
            </a:extLst>
          </p:cNvPr>
          <p:cNvSpPr txBox="1"/>
          <p:nvPr/>
        </p:nvSpPr>
        <p:spPr>
          <a:xfrm>
            <a:off x="3298561" y="2580901"/>
            <a:ext cx="6440993" cy="769441"/>
          </a:xfrm>
          <a:prstGeom prst="rect">
            <a:avLst/>
          </a:prstGeom>
          <a:noFill/>
        </p:spPr>
        <p:txBody>
          <a:bodyPr wrap="square" rtlCol="0">
            <a:spAutoFit/>
          </a:bodyPr>
          <a:lstStyle/>
          <a:p>
            <a:r>
              <a:rPr lang="en-US" sz="4400" b="1" dirty="0"/>
              <a:t>Viola-Jones</a:t>
            </a:r>
            <a:r>
              <a:rPr lang="en-US" sz="4400" dirty="0"/>
              <a:t> </a:t>
            </a:r>
            <a:r>
              <a:rPr lang="en-US" sz="4400" b="1" dirty="0"/>
              <a:t>algorithm</a:t>
            </a:r>
            <a:endParaRPr lang="ru-KZ" sz="4400" b="1" dirty="0"/>
          </a:p>
        </p:txBody>
      </p:sp>
      <p:sp>
        <p:nvSpPr>
          <p:cNvPr id="3" name="TextBox 2">
            <a:extLst>
              <a:ext uri="{FF2B5EF4-FFF2-40B4-BE49-F238E27FC236}">
                <a16:creationId xmlns:a16="http://schemas.microsoft.com/office/drawing/2014/main" id="{5998EDA6-B619-3218-6E5A-65DE28FEAD5B}"/>
              </a:ext>
            </a:extLst>
          </p:cNvPr>
          <p:cNvSpPr txBox="1"/>
          <p:nvPr/>
        </p:nvSpPr>
        <p:spPr>
          <a:xfrm>
            <a:off x="4764431" y="3618271"/>
            <a:ext cx="4975123" cy="369332"/>
          </a:xfrm>
          <a:prstGeom prst="rect">
            <a:avLst/>
          </a:prstGeom>
          <a:noFill/>
        </p:spPr>
        <p:txBody>
          <a:bodyPr wrap="square" rtlCol="0">
            <a:spAutoFit/>
          </a:bodyPr>
          <a:lstStyle/>
          <a:p>
            <a:r>
              <a:rPr lang="en-US" dirty="0" err="1"/>
              <a:t>Suleimenova</a:t>
            </a:r>
            <a:r>
              <a:rPr lang="en-US" dirty="0"/>
              <a:t> </a:t>
            </a:r>
            <a:r>
              <a:rPr lang="en-US" dirty="0" err="1"/>
              <a:t>Inkara</a:t>
            </a:r>
            <a:endParaRPr lang="ru-KZ" dirty="0"/>
          </a:p>
        </p:txBody>
      </p:sp>
    </p:spTree>
    <p:extLst>
      <p:ext uri="{BB962C8B-B14F-4D97-AF65-F5344CB8AC3E}">
        <p14:creationId xmlns:p14="http://schemas.microsoft.com/office/powerpoint/2010/main" val="3168717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E5980F-4329-692D-B28D-80326EC8F66A}"/>
              </a:ext>
            </a:extLst>
          </p:cNvPr>
          <p:cNvSpPr txBox="1"/>
          <p:nvPr/>
        </p:nvSpPr>
        <p:spPr>
          <a:xfrm>
            <a:off x="569729" y="1109618"/>
            <a:ext cx="9232491" cy="707886"/>
          </a:xfrm>
          <a:prstGeom prst="rect">
            <a:avLst/>
          </a:prstGeom>
          <a:noFill/>
        </p:spPr>
        <p:txBody>
          <a:bodyPr wrap="square">
            <a:spAutoFit/>
          </a:bodyPr>
          <a:lstStyle/>
          <a:p>
            <a:pPr algn="l" fontAlgn="base">
              <a:spcAft>
                <a:spcPts val="1500"/>
              </a:spcAft>
            </a:pPr>
            <a:r>
              <a:rPr lang="en-US" sz="4000" b="1" i="0" dirty="0">
                <a:effectLst/>
                <a:latin typeface="Inter"/>
              </a:rPr>
              <a:t>What is Viola Jones algorithm?</a:t>
            </a:r>
          </a:p>
        </p:txBody>
      </p:sp>
      <p:sp>
        <p:nvSpPr>
          <p:cNvPr id="5" name="TextBox 4">
            <a:extLst>
              <a:ext uri="{FF2B5EF4-FFF2-40B4-BE49-F238E27FC236}">
                <a16:creationId xmlns:a16="http://schemas.microsoft.com/office/drawing/2014/main" id="{02A4669B-C970-6230-7605-FE77EAA2DEE7}"/>
              </a:ext>
            </a:extLst>
          </p:cNvPr>
          <p:cNvSpPr txBox="1"/>
          <p:nvPr/>
        </p:nvSpPr>
        <p:spPr>
          <a:xfrm>
            <a:off x="569729" y="2023817"/>
            <a:ext cx="6132521" cy="4524315"/>
          </a:xfrm>
          <a:prstGeom prst="rect">
            <a:avLst/>
          </a:prstGeom>
          <a:noFill/>
        </p:spPr>
        <p:txBody>
          <a:bodyPr wrap="square">
            <a:spAutoFit/>
          </a:bodyPr>
          <a:lstStyle/>
          <a:p>
            <a:r>
              <a:rPr lang="en-US" b="0" i="0" dirty="0">
                <a:effectLst/>
                <a:latin typeface="Inter"/>
              </a:rPr>
              <a:t>Viola Jones algorithm is named after two computer vision researchers who proposed the method in 2001, Paul Viola and Michael Jones in their paper, “Rapid Object Detection using a Boosted Cascade of Simple Features”. Despite being an outdated framework, Viola-Jones is quite powerful, and its application has proven to be exceptionally notable in real-time face detection. This algorithm is painfully slow to train but can detect faces in real-time with impressive speed.</a:t>
            </a:r>
            <a:r>
              <a:rPr lang="ru-RU" b="0" i="0" dirty="0">
                <a:effectLst/>
                <a:latin typeface="Inter"/>
              </a:rPr>
              <a:t> </a:t>
            </a:r>
          </a:p>
          <a:p>
            <a:pPr algn="l" fontAlgn="base"/>
            <a:r>
              <a:rPr lang="en-US" b="0" i="0" dirty="0">
                <a:effectLst/>
                <a:latin typeface="Inter"/>
              </a:rPr>
              <a:t>The Viola Jones algorithm has four main steps, which we shall discuss in the sections to follow:</a:t>
            </a:r>
            <a:endParaRPr lang="ru-RU" b="0" i="0" dirty="0">
              <a:effectLst/>
              <a:latin typeface="Inter"/>
            </a:endParaRPr>
          </a:p>
          <a:p>
            <a:pPr algn="l" fontAlgn="base"/>
            <a:endParaRPr lang="ru-RU" b="0" i="0" dirty="0">
              <a:effectLst/>
              <a:latin typeface="Inter"/>
            </a:endParaRPr>
          </a:p>
          <a:p>
            <a:pPr marL="342900" indent="-342900" algn="ctr" fontAlgn="base">
              <a:buAutoNum type="arabicPeriod"/>
            </a:pPr>
            <a:r>
              <a:rPr lang="en-US" b="0" i="0" dirty="0">
                <a:effectLst/>
                <a:latin typeface="Inter"/>
              </a:rPr>
              <a:t>Selecting </a:t>
            </a:r>
            <a:r>
              <a:rPr lang="en-US" b="0" i="0" dirty="0" err="1">
                <a:effectLst/>
                <a:latin typeface="Inter"/>
              </a:rPr>
              <a:t>Haar</a:t>
            </a:r>
            <a:r>
              <a:rPr lang="en-US" b="0" i="0" dirty="0">
                <a:effectLst/>
                <a:latin typeface="Inter"/>
              </a:rPr>
              <a:t>-like features</a:t>
            </a:r>
            <a:endParaRPr lang="ru-RU" b="0" i="0" dirty="0">
              <a:effectLst/>
              <a:latin typeface="Inter"/>
            </a:endParaRPr>
          </a:p>
          <a:p>
            <a:pPr marL="342900" indent="-342900" algn="ctr" fontAlgn="base">
              <a:buAutoNum type="arabicPeriod"/>
            </a:pPr>
            <a:r>
              <a:rPr lang="en-US" b="0" i="0" dirty="0">
                <a:effectLst/>
                <a:latin typeface="Inter"/>
              </a:rPr>
              <a:t>Creating an integral image</a:t>
            </a:r>
            <a:endParaRPr lang="ru-RU" b="0" i="0" dirty="0">
              <a:effectLst/>
              <a:latin typeface="Inter"/>
            </a:endParaRPr>
          </a:p>
          <a:p>
            <a:pPr marL="342900" indent="-342900" algn="ctr" fontAlgn="base">
              <a:buAutoNum type="arabicPeriod"/>
            </a:pPr>
            <a:r>
              <a:rPr lang="en-US" b="0" i="0" dirty="0">
                <a:effectLst/>
                <a:latin typeface="Inter"/>
              </a:rPr>
              <a:t>Running AdaBoost training</a:t>
            </a:r>
            <a:endParaRPr lang="ru-RU" b="0" i="0" dirty="0">
              <a:effectLst/>
              <a:latin typeface="Inter"/>
            </a:endParaRPr>
          </a:p>
          <a:p>
            <a:pPr marL="342900" indent="-342900" algn="ctr" fontAlgn="base">
              <a:buAutoNum type="arabicPeriod"/>
            </a:pPr>
            <a:r>
              <a:rPr lang="en-US" b="0" i="0" dirty="0">
                <a:effectLst/>
                <a:latin typeface="Inter"/>
              </a:rPr>
              <a:t>Creating classifier cascades</a:t>
            </a:r>
          </a:p>
          <a:p>
            <a:endParaRPr lang="ru-KZ" dirty="0"/>
          </a:p>
        </p:txBody>
      </p:sp>
      <p:pic>
        <p:nvPicPr>
          <p:cNvPr id="5122" name="Picture 2" descr="Face and eyes detection with Viola Jones along with python code | Sanpreet  Singh">
            <a:extLst>
              <a:ext uri="{FF2B5EF4-FFF2-40B4-BE49-F238E27FC236}">
                <a16:creationId xmlns:a16="http://schemas.microsoft.com/office/drawing/2014/main" id="{D3A76696-4826-A51C-9D42-BFF51D3431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3056" y="2490736"/>
            <a:ext cx="5549202" cy="2774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711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E2F873-593D-AA1E-1FC7-F5DB02297FF2}"/>
              </a:ext>
            </a:extLst>
          </p:cNvPr>
          <p:cNvSpPr txBox="1"/>
          <p:nvPr/>
        </p:nvSpPr>
        <p:spPr>
          <a:xfrm>
            <a:off x="1111045" y="1162353"/>
            <a:ext cx="6096000" cy="707886"/>
          </a:xfrm>
          <a:prstGeom prst="rect">
            <a:avLst/>
          </a:prstGeom>
          <a:noFill/>
        </p:spPr>
        <p:txBody>
          <a:bodyPr wrap="square">
            <a:spAutoFit/>
          </a:bodyPr>
          <a:lstStyle/>
          <a:p>
            <a:r>
              <a:rPr lang="en-US" sz="4000" b="1" i="0" dirty="0" err="1">
                <a:effectLst/>
                <a:latin typeface="Inter"/>
              </a:rPr>
              <a:t>Haar</a:t>
            </a:r>
            <a:r>
              <a:rPr lang="en-US" sz="4000" b="1" i="0" dirty="0">
                <a:effectLst/>
                <a:latin typeface="Inter"/>
              </a:rPr>
              <a:t>-feature selection</a:t>
            </a:r>
            <a:endParaRPr lang="ru-KZ" sz="4000" dirty="0">
              <a:latin typeface="Inter"/>
            </a:endParaRPr>
          </a:p>
        </p:txBody>
      </p:sp>
      <p:sp>
        <p:nvSpPr>
          <p:cNvPr id="5" name="TextBox 4">
            <a:extLst>
              <a:ext uri="{FF2B5EF4-FFF2-40B4-BE49-F238E27FC236}">
                <a16:creationId xmlns:a16="http://schemas.microsoft.com/office/drawing/2014/main" id="{BF4F6ECC-9B01-2A73-28D9-274374EDBBFF}"/>
              </a:ext>
            </a:extLst>
          </p:cNvPr>
          <p:cNvSpPr txBox="1"/>
          <p:nvPr/>
        </p:nvSpPr>
        <p:spPr>
          <a:xfrm>
            <a:off x="1111045" y="2319197"/>
            <a:ext cx="6096000" cy="4431983"/>
          </a:xfrm>
          <a:prstGeom prst="rect">
            <a:avLst/>
          </a:prstGeom>
          <a:noFill/>
        </p:spPr>
        <p:txBody>
          <a:bodyPr wrap="square">
            <a:spAutoFit/>
          </a:bodyPr>
          <a:lstStyle/>
          <a:p>
            <a:pPr algn="l" fontAlgn="base">
              <a:spcAft>
                <a:spcPts val="1800"/>
              </a:spcAft>
            </a:pPr>
            <a:r>
              <a:rPr lang="en-US" b="0" i="0" dirty="0">
                <a:effectLst/>
                <a:latin typeface="Inter"/>
              </a:rPr>
              <a:t>In the 19th century a Hungarian mathematician, Alfred </a:t>
            </a:r>
            <a:r>
              <a:rPr lang="en-US" b="0" i="0" dirty="0" err="1">
                <a:effectLst/>
                <a:latin typeface="Inter"/>
              </a:rPr>
              <a:t>Haar</a:t>
            </a:r>
            <a:r>
              <a:rPr lang="en-US" b="0" i="0" dirty="0">
                <a:effectLst/>
                <a:latin typeface="Inter"/>
              </a:rPr>
              <a:t> gave the concepts of </a:t>
            </a:r>
            <a:r>
              <a:rPr lang="en-US" b="0" i="0" dirty="0" err="1">
                <a:effectLst/>
                <a:latin typeface="Inter"/>
              </a:rPr>
              <a:t>Haar</a:t>
            </a:r>
            <a:r>
              <a:rPr lang="en-US" b="0" i="0" dirty="0">
                <a:effectLst/>
                <a:latin typeface="Inter"/>
              </a:rPr>
              <a:t> wavelets, which are a sequence of rescaled “square-shaped” functions which together form a wavelet family or basis. Voila and Jones adapted the idea of using </a:t>
            </a:r>
            <a:r>
              <a:rPr lang="en-US" b="0" i="0" dirty="0" err="1">
                <a:effectLst/>
                <a:latin typeface="Inter"/>
              </a:rPr>
              <a:t>Haar</a:t>
            </a:r>
            <a:r>
              <a:rPr lang="en-US" b="0" i="0" dirty="0">
                <a:effectLst/>
                <a:latin typeface="Inter"/>
              </a:rPr>
              <a:t> wavelets and developed the so-called </a:t>
            </a:r>
            <a:r>
              <a:rPr lang="en-US" b="0" i="0" dirty="0" err="1">
                <a:effectLst/>
                <a:latin typeface="Inter"/>
              </a:rPr>
              <a:t>Haar</a:t>
            </a:r>
            <a:r>
              <a:rPr lang="en-US" b="0" i="0" dirty="0">
                <a:effectLst/>
                <a:latin typeface="Inter"/>
              </a:rPr>
              <a:t>-like features. </a:t>
            </a:r>
            <a:endParaRPr lang="ru-RU" dirty="0">
              <a:latin typeface="Inter"/>
            </a:endParaRPr>
          </a:p>
          <a:p>
            <a:pPr algn="l" fontAlgn="base">
              <a:spcAft>
                <a:spcPts val="1800"/>
              </a:spcAft>
            </a:pPr>
            <a:r>
              <a:rPr lang="en-US" b="0" i="0" dirty="0">
                <a:solidFill>
                  <a:srgbClr val="273239"/>
                </a:solidFill>
                <a:effectLst/>
                <a:latin typeface="Inter"/>
              </a:rPr>
              <a:t>A </a:t>
            </a:r>
            <a:r>
              <a:rPr lang="en-US" b="0" i="0" dirty="0" err="1">
                <a:solidFill>
                  <a:srgbClr val="273239"/>
                </a:solidFill>
                <a:effectLst/>
                <a:latin typeface="Inter"/>
              </a:rPr>
              <a:t>Haar</a:t>
            </a:r>
            <a:r>
              <a:rPr lang="en-US" b="0" i="0" dirty="0">
                <a:solidFill>
                  <a:srgbClr val="273239"/>
                </a:solidFill>
                <a:effectLst/>
                <a:latin typeface="Inter"/>
              </a:rPr>
              <a:t>-like feature consists of dark regions and light regions. It produces a single value by taking the difference of the sum of the intensities of the dark regions and the sum of the intensities of light regions. It is done to extract useful elements necessary for identifying an object. The features proposed by viola and jones are:</a:t>
            </a:r>
          </a:p>
          <a:p>
            <a:br>
              <a:rPr lang="en-US" dirty="0">
                <a:latin typeface="Inter"/>
              </a:rPr>
            </a:br>
            <a:endParaRPr lang="ru-KZ" dirty="0">
              <a:latin typeface="Inter"/>
            </a:endParaRPr>
          </a:p>
        </p:txBody>
      </p:sp>
      <p:sp>
        <p:nvSpPr>
          <p:cNvPr id="6" name="AutoShape 2" descr="Haar Function -- from Wolfram MathWorld">
            <a:extLst>
              <a:ext uri="{FF2B5EF4-FFF2-40B4-BE49-F238E27FC236}">
                <a16:creationId xmlns:a16="http://schemas.microsoft.com/office/drawing/2014/main" id="{A2610730-5D6A-2B13-9EB7-E3DDAFCE00FD}"/>
              </a:ext>
            </a:extLst>
          </p:cNvPr>
          <p:cNvSpPr>
            <a:spLocks noChangeAspect="1" noChangeArrowheads="1"/>
          </p:cNvSpPr>
          <p:nvPr/>
        </p:nvSpPr>
        <p:spPr bwMode="auto">
          <a:xfrm>
            <a:off x="7905088" y="5367197"/>
            <a:ext cx="179673" cy="17967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KZ"/>
          </a:p>
        </p:txBody>
      </p:sp>
      <p:pic>
        <p:nvPicPr>
          <p:cNvPr id="1028" name="Picture 4" descr="Lightbox">
            <a:extLst>
              <a:ext uri="{FF2B5EF4-FFF2-40B4-BE49-F238E27FC236}">
                <a16:creationId xmlns:a16="http://schemas.microsoft.com/office/drawing/2014/main" id="{7DB53D48-14F3-3ECD-EEF1-24D4B2DF8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2076" y="2319197"/>
            <a:ext cx="4284074" cy="3773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273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BC0501-1422-577E-F77F-4BAB91B74F97}"/>
              </a:ext>
            </a:extLst>
          </p:cNvPr>
          <p:cNvSpPr txBox="1"/>
          <p:nvPr/>
        </p:nvSpPr>
        <p:spPr>
          <a:xfrm>
            <a:off x="875827" y="1033776"/>
            <a:ext cx="6096000" cy="707886"/>
          </a:xfrm>
          <a:prstGeom prst="rect">
            <a:avLst/>
          </a:prstGeom>
          <a:noFill/>
        </p:spPr>
        <p:txBody>
          <a:bodyPr wrap="square">
            <a:spAutoFit/>
          </a:bodyPr>
          <a:lstStyle/>
          <a:p>
            <a:r>
              <a:rPr lang="en-US" sz="4000" b="1" i="0" dirty="0">
                <a:effectLst/>
                <a:latin typeface="Inter"/>
              </a:rPr>
              <a:t>Creation of Integral Images</a:t>
            </a:r>
            <a:endParaRPr lang="ru-KZ" sz="4000" dirty="0">
              <a:latin typeface="Inter"/>
            </a:endParaRPr>
          </a:p>
        </p:txBody>
      </p:sp>
      <p:sp>
        <p:nvSpPr>
          <p:cNvPr id="5" name="TextBox 4">
            <a:extLst>
              <a:ext uri="{FF2B5EF4-FFF2-40B4-BE49-F238E27FC236}">
                <a16:creationId xmlns:a16="http://schemas.microsoft.com/office/drawing/2014/main" id="{D3E49498-50D5-8416-BFFE-F5543DD7EAA2}"/>
              </a:ext>
            </a:extLst>
          </p:cNvPr>
          <p:cNvSpPr txBox="1"/>
          <p:nvPr/>
        </p:nvSpPr>
        <p:spPr>
          <a:xfrm>
            <a:off x="875827" y="2269404"/>
            <a:ext cx="6096000" cy="3693319"/>
          </a:xfrm>
          <a:prstGeom prst="rect">
            <a:avLst/>
          </a:prstGeom>
          <a:noFill/>
        </p:spPr>
        <p:txBody>
          <a:bodyPr wrap="square">
            <a:spAutoFit/>
          </a:bodyPr>
          <a:lstStyle/>
          <a:p>
            <a:r>
              <a:rPr lang="en-US" b="0" i="0" dirty="0">
                <a:effectLst/>
                <a:latin typeface="Inter"/>
              </a:rPr>
              <a:t>A given pixel in the integral image is the sum of all the pixels on the left and all the pixels above it. Since the process of extracting </a:t>
            </a:r>
            <a:r>
              <a:rPr lang="en-US" b="0" i="0" dirty="0" err="1">
                <a:effectLst/>
                <a:latin typeface="Inter"/>
              </a:rPr>
              <a:t>Haar</a:t>
            </a:r>
            <a:r>
              <a:rPr lang="en-US" b="0" i="0" dirty="0">
                <a:effectLst/>
                <a:latin typeface="Inter"/>
              </a:rPr>
              <a:t>-like features involves calculating the difference of dark and light rectangular regions, the introduction of Integral Images reduces the time needed to complete this task significantly.</a:t>
            </a:r>
          </a:p>
          <a:p>
            <a:endParaRPr lang="en-US" b="0" i="0" dirty="0">
              <a:effectLst/>
              <a:latin typeface="Inter"/>
            </a:endParaRPr>
          </a:p>
          <a:p>
            <a:r>
              <a:rPr lang="en-US" b="0" i="0" dirty="0">
                <a:solidFill>
                  <a:srgbClr val="242424"/>
                </a:solidFill>
                <a:effectLst/>
                <a:latin typeface="Inter"/>
              </a:rPr>
              <a:t>An integral image gives a fast and simple way to calculate the value of any </a:t>
            </a:r>
            <a:r>
              <a:rPr lang="en-US" b="0" i="0" dirty="0" err="1">
                <a:solidFill>
                  <a:srgbClr val="242424"/>
                </a:solidFill>
                <a:effectLst/>
                <a:latin typeface="Inter"/>
              </a:rPr>
              <a:t>haar</a:t>
            </a:r>
            <a:r>
              <a:rPr lang="en-US" b="0" i="0" dirty="0">
                <a:solidFill>
                  <a:srgbClr val="242424"/>
                </a:solidFill>
                <a:effectLst/>
                <a:latin typeface="Inter"/>
              </a:rPr>
              <a:t>-like feature. This is done by making use of the Summed Area Table. The value for location (x, y) on the integral image is the sum of the pixels above and to the left of the (x, y) on the original image plus itself. For example, from below to calculate the (2,2) = 16: 5+2+3+6 = 16.</a:t>
            </a:r>
            <a:endParaRPr lang="ru-KZ" dirty="0">
              <a:latin typeface="Inter"/>
            </a:endParaRPr>
          </a:p>
        </p:txBody>
      </p:sp>
      <p:pic>
        <p:nvPicPr>
          <p:cNvPr id="2050" name="Picture 2">
            <a:extLst>
              <a:ext uri="{FF2B5EF4-FFF2-40B4-BE49-F238E27FC236}">
                <a16:creationId xmlns:a16="http://schemas.microsoft.com/office/drawing/2014/main" id="{5A4F9CD7-10DE-5B0B-D848-7CE28AC71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3858" y="1603664"/>
            <a:ext cx="4387395" cy="502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888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3137B1-7122-5CFD-F608-FBB33E8FD4B9}"/>
              </a:ext>
            </a:extLst>
          </p:cNvPr>
          <p:cNvSpPr txBox="1"/>
          <p:nvPr/>
        </p:nvSpPr>
        <p:spPr>
          <a:xfrm>
            <a:off x="875827" y="2381482"/>
            <a:ext cx="4379461" cy="3724096"/>
          </a:xfrm>
          <a:prstGeom prst="rect">
            <a:avLst/>
          </a:prstGeom>
          <a:noFill/>
        </p:spPr>
        <p:txBody>
          <a:bodyPr wrap="square">
            <a:spAutoFit/>
          </a:bodyPr>
          <a:lstStyle/>
          <a:p>
            <a:pPr algn="l">
              <a:lnSpc>
                <a:spcPts val="2400"/>
              </a:lnSpc>
            </a:pPr>
            <a:r>
              <a:rPr lang="en-US" b="0" i="0" dirty="0">
                <a:solidFill>
                  <a:srgbClr val="242424"/>
                </a:solidFill>
                <a:effectLst/>
                <a:latin typeface="source-serif-pro"/>
              </a:rPr>
              <a:t>After constructing the integral image, it is used to efficiently calculate the sum of dark/light rectangular regions in Viola-Jones Algorithm. This is done by summing up (see diagram below) the corner pixels of the wanted window.</a:t>
            </a:r>
          </a:p>
          <a:p>
            <a:pPr algn="l">
              <a:lnSpc>
                <a:spcPts val="2400"/>
              </a:lnSpc>
            </a:pPr>
            <a:endParaRPr lang="en-US" dirty="0">
              <a:solidFill>
                <a:srgbClr val="242424"/>
              </a:solidFill>
              <a:latin typeface="source-serif-pro"/>
            </a:endParaRPr>
          </a:p>
          <a:p>
            <a:pPr algn="l">
              <a:lnSpc>
                <a:spcPts val="2400"/>
              </a:lnSpc>
            </a:pPr>
            <a:r>
              <a:rPr lang="en-US" b="0" i="0" dirty="0">
                <a:solidFill>
                  <a:srgbClr val="242424"/>
                </a:solidFill>
                <a:effectLst/>
                <a:latin typeface="source-serif-pro"/>
              </a:rPr>
              <a:t>To get the sum of the blue rectangle, just add the green values and subtract the red values in the integral image. 1+21–11–3 = 8.</a:t>
            </a:r>
          </a:p>
          <a:p>
            <a:br>
              <a:rPr lang="en-US" dirty="0">
                <a:effectLst/>
              </a:rPr>
            </a:br>
            <a:endParaRPr lang="ru-KZ" dirty="0"/>
          </a:p>
        </p:txBody>
      </p:sp>
      <p:sp>
        <p:nvSpPr>
          <p:cNvPr id="6" name="TextBox 5">
            <a:extLst>
              <a:ext uri="{FF2B5EF4-FFF2-40B4-BE49-F238E27FC236}">
                <a16:creationId xmlns:a16="http://schemas.microsoft.com/office/drawing/2014/main" id="{C6ADB1AB-A374-B6DE-BE06-4A5A25F14C3C}"/>
              </a:ext>
            </a:extLst>
          </p:cNvPr>
          <p:cNvSpPr txBox="1"/>
          <p:nvPr/>
        </p:nvSpPr>
        <p:spPr>
          <a:xfrm>
            <a:off x="875827" y="752422"/>
            <a:ext cx="4379461" cy="1323439"/>
          </a:xfrm>
          <a:prstGeom prst="rect">
            <a:avLst/>
          </a:prstGeom>
          <a:noFill/>
        </p:spPr>
        <p:txBody>
          <a:bodyPr wrap="square">
            <a:spAutoFit/>
          </a:bodyPr>
          <a:lstStyle/>
          <a:p>
            <a:r>
              <a:rPr lang="en-US" sz="4000" b="1" i="0" dirty="0">
                <a:effectLst/>
                <a:latin typeface="Inter"/>
              </a:rPr>
              <a:t>Creation of Integral Images</a:t>
            </a:r>
            <a:endParaRPr lang="ru-KZ" sz="4000" dirty="0">
              <a:latin typeface="Inter"/>
            </a:endParaRPr>
          </a:p>
        </p:txBody>
      </p:sp>
      <p:pic>
        <p:nvPicPr>
          <p:cNvPr id="3074" name="Picture 2">
            <a:extLst>
              <a:ext uri="{FF2B5EF4-FFF2-40B4-BE49-F238E27FC236}">
                <a16:creationId xmlns:a16="http://schemas.microsoft.com/office/drawing/2014/main" id="{B26A4F20-A9AF-3FCF-34F9-476C29CE9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148" y="2251688"/>
            <a:ext cx="6381750" cy="349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26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152A09-15A8-3864-DBEB-00214F972B2E}"/>
              </a:ext>
            </a:extLst>
          </p:cNvPr>
          <p:cNvSpPr txBox="1"/>
          <p:nvPr/>
        </p:nvSpPr>
        <p:spPr>
          <a:xfrm>
            <a:off x="727588" y="727031"/>
            <a:ext cx="11199780" cy="707886"/>
          </a:xfrm>
          <a:prstGeom prst="rect">
            <a:avLst/>
          </a:prstGeom>
          <a:noFill/>
        </p:spPr>
        <p:txBody>
          <a:bodyPr wrap="square">
            <a:spAutoFit/>
          </a:bodyPr>
          <a:lstStyle/>
          <a:p>
            <a:pPr algn="l" fontAlgn="base">
              <a:spcAft>
                <a:spcPts val="1500"/>
              </a:spcAft>
            </a:pPr>
            <a:r>
              <a:rPr lang="en-US" sz="4000" b="1" i="0" dirty="0">
                <a:effectLst/>
                <a:latin typeface="Inter"/>
              </a:rPr>
              <a:t>AdaBoost Training</a:t>
            </a:r>
          </a:p>
        </p:txBody>
      </p:sp>
      <p:sp>
        <p:nvSpPr>
          <p:cNvPr id="5" name="TextBox 4">
            <a:extLst>
              <a:ext uri="{FF2B5EF4-FFF2-40B4-BE49-F238E27FC236}">
                <a16:creationId xmlns:a16="http://schemas.microsoft.com/office/drawing/2014/main" id="{5EF25925-7B2A-9163-E66C-C78601BCFB83}"/>
              </a:ext>
            </a:extLst>
          </p:cNvPr>
          <p:cNvSpPr txBox="1"/>
          <p:nvPr/>
        </p:nvSpPr>
        <p:spPr>
          <a:xfrm>
            <a:off x="727587" y="1523407"/>
            <a:ext cx="9753599" cy="5078313"/>
          </a:xfrm>
          <a:prstGeom prst="rect">
            <a:avLst/>
          </a:prstGeom>
          <a:noFill/>
        </p:spPr>
        <p:txBody>
          <a:bodyPr wrap="square">
            <a:spAutoFit/>
          </a:bodyPr>
          <a:lstStyle/>
          <a:p>
            <a:pPr fontAlgn="base"/>
            <a:r>
              <a:rPr lang="en-US" dirty="0">
                <a:latin typeface="Inter"/>
              </a:rPr>
              <a:t>W</a:t>
            </a:r>
            <a:r>
              <a:rPr lang="en-US" b="0" i="0" dirty="0">
                <a:effectLst/>
                <a:latin typeface="Inter"/>
              </a:rPr>
              <a:t>e use a Machine Learning algorithm known as AdaBoost. But why do we even want an algorithm?</a:t>
            </a:r>
            <a:r>
              <a:rPr lang="en-US" dirty="0">
                <a:latin typeface="Inter"/>
              </a:rPr>
              <a:t> </a:t>
            </a:r>
            <a:r>
              <a:rPr lang="en-US" b="0" i="0" dirty="0">
                <a:effectLst/>
                <a:latin typeface="Inter"/>
              </a:rPr>
              <a:t>The number of features that are present in the 24×24 detector window is nearly 160,000, but only a few of these features are important to identify a face. So we use the AdaBoost algorithm to identify the best features in the 160,000 features. In the Viola-Jones algorithm, each </a:t>
            </a:r>
            <a:r>
              <a:rPr lang="en-US" b="0" i="0" dirty="0" err="1">
                <a:effectLst/>
                <a:latin typeface="Inter"/>
              </a:rPr>
              <a:t>Haar</a:t>
            </a:r>
            <a:r>
              <a:rPr lang="en-US" b="0" i="0" dirty="0">
                <a:effectLst/>
                <a:latin typeface="Inter"/>
              </a:rPr>
              <a:t>-like feature represents a weak learner. To decide the type and size of a feature that goes into the final classifier, AdaBoost checks the performance of all classifiers that you supply to it.</a:t>
            </a:r>
            <a:br>
              <a:rPr lang="en-US" b="0" i="0" dirty="0">
                <a:effectLst/>
                <a:latin typeface="Inter"/>
              </a:rPr>
            </a:br>
            <a:endParaRPr lang="en-US" b="0" i="0" dirty="0">
              <a:effectLst/>
              <a:latin typeface="Inter"/>
            </a:endParaRPr>
          </a:p>
          <a:p>
            <a:pPr fontAlgn="base"/>
            <a:r>
              <a:rPr lang="en-US" b="0" i="0" dirty="0">
                <a:effectLst/>
                <a:latin typeface="Inter"/>
              </a:rPr>
              <a:t>To calculate the performance of a classifier, you evaluate it on all subregions of all the images used for training. Some subregions will produce a strong response in the classifier. Those will be classified as positives, meaning the classifier thinks it contains a human face. Subregions that don’t provide a strong response don’t contain a human face, in the classifiers opinion. They will be classified as negatives.</a:t>
            </a:r>
            <a:r>
              <a:rPr lang="en-US" dirty="0">
                <a:latin typeface="Inter"/>
              </a:rPr>
              <a:t> </a:t>
            </a:r>
            <a:r>
              <a:rPr lang="en-US" b="0" i="0" dirty="0">
                <a:effectLst/>
                <a:latin typeface="Inter"/>
              </a:rPr>
              <a:t>The classifiers that performed well are given higher importance or weight. The final result is a strong classifier, also called a boosted classifier, that contains the best performing weak classifiers.</a:t>
            </a:r>
            <a:br>
              <a:rPr lang="en-US" b="0" i="0" dirty="0">
                <a:effectLst/>
                <a:latin typeface="Inter"/>
              </a:rPr>
            </a:br>
            <a:endParaRPr lang="en-US" b="0" i="0" dirty="0">
              <a:effectLst/>
              <a:latin typeface="Inter"/>
            </a:endParaRPr>
          </a:p>
          <a:p>
            <a:pPr fontAlgn="base"/>
            <a:r>
              <a:rPr lang="en-US" b="0" i="0" dirty="0">
                <a:effectLst/>
                <a:latin typeface="Inter"/>
              </a:rPr>
              <a:t>So when we’re training the AdaBoost to identify important features, we’re feeding it information in the form of training data and subsequently training it to learn from the information to predict. So ultimately, the algorithm is setting a minimum threshold to determine whether something can be classified as a useful feature or not.</a:t>
            </a:r>
          </a:p>
        </p:txBody>
      </p:sp>
    </p:spTree>
    <p:extLst>
      <p:ext uri="{BB962C8B-B14F-4D97-AF65-F5344CB8AC3E}">
        <p14:creationId xmlns:p14="http://schemas.microsoft.com/office/powerpoint/2010/main" val="3360473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4A5F5E-E91A-010F-CB2C-A3E5CA2FCCE5}"/>
              </a:ext>
            </a:extLst>
          </p:cNvPr>
          <p:cNvSpPr txBox="1"/>
          <p:nvPr/>
        </p:nvSpPr>
        <p:spPr>
          <a:xfrm>
            <a:off x="1052051" y="906715"/>
            <a:ext cx="6096000" cy="707886"/>
          </a:xfrm>
          <a:prstGeom prst="rect">
            <a:avLst/>
          </a:prstGeom>
          <a:noFill/>
        </p:spPr>
        <p:txBody>
          <a:bodyPr wrap="square">
            <a:spAutoFit/>
          </a:bodyPr>
          <a:lstStyle/>
          <a:p>
            <a:r>
              <a:rPr lang="en-US" sz="4000" b="1" i="0" dirty="0">
                <a:effectLst/>
                <a:latin typeface="Inter"/>
              </a:rPr>
              <a:t>Cascade Classifier</a:t>
            </a:r>
            <a:endParaRPr lang="ru-KZ" sz="4000" dirty="0">
              <a:latin typeface="Inter"/>
            </a:endParaRPr>
          </a:p>
        </p:txBody>
      </p:sp>
      <p:sp>
        <p:nvSpPr>
          <p:cNvPr id="5" name="TextBox 4">
            <a:extLst>
              <a:ext uri="{FF2B5EF4-FFF2-40B4-BE49-F238E27FC236}">
                <a16:creationId xmlns:a16="http://schemas.microsoft.com/office/drawing/2014/main" id="{0EBD5C00-F53E-8B1A-F8B2-C1D5BA92D589}"/>
              </a:ext>
            </a:extLst>
          </p:cNvPr>
          <p:cNvSpPr txBox="1"/>
          <p:nvPr/>
        </p:nvSpPr>
        <p:spPr>
          <a:xfrm>
            <a:off x="1052051" y="2047763"/>
            <a:ext cx="6096000" cy="3416320"/>
          </a:xfrm>
          <a:prstGeom prst="rect">
            <a:avLst/>
          </a:prstGeom>
          <a:noFill/>
        </p:spPr>
        <p:txBody>
          <a:bodyPr wrap="square">
            <a:spAutoFit/>
          </a:bodyPr>
          <a:lstStyle/>
          <a:p>
            <a:r>
              <a:rPr lang="en-US" b="0" i="0" dirty="0">
                <a:solidFill>
                  <a:srgbClr val="242424"/>
                </a:solidFill>
                <a:effectLst/>
                <a:latin typeface="source-serif-pro"/>
              </a:rPr>
              <a:t>Above it was noted that a strong classifier is made up from many weak classifiers. Here, this strong classifier is turned into a cascade. Having many stages, each stage consists of a weak classifier. By having this chain of stages, it can effectively test our image/</a:t>
            </a:r>
            <a:r>
              <a:rPr lang="en-US" b="0" i="0" dirty="0" err="1">
                <a:solidFill>
                  <a:srgbClr val="242424"/>
                </a:solidFill>
                <a:effectLst/>
                <a:latin typeface="source-serif-pro"/>
              </a:rPr>
              <a:t>subimage</a:t>
            </a:r>
            <a:r>
              <a:rPr lang="en-US" b="0" i="0" dirty="0">
                <a:solidFill>
                  <a:srgbClr val="242424"/>
                </a:solidFill>
                <a:effectLst/>
                <a:latin typeface="source-serif-pro"/>
              </a:rPr>
              <a:t>. This is since the task of every stage is to determine if in the given window there is not a face or maybe there is a face. The output will always be no or maybe. If ‘no’, the window is discarded and it does not need to go through further levels. If ‘maybe’, the next classifier is called and the process is repeated until the last stage is finished. This is a much more cost effective and a fast procedure since many windows will be quickly discarded.</a:t>
            </a:r>
            <a:endParaRPr lang="ru-KZ" dirty="0"/>
          </a:p>
        </p:txBody>
      </p:sp>
      <p:sp>
        <p:nvSpPr>
          <p:cNvPr id="6" name="AutoShape 2">
            <a:extLst>
              <a:ext uri="{FF2B5EF4-FFF2-40B4-BE49-F238E27FC236}">
                <a16:creationId xmlns:a16="http://schemas.microsoft.com/office/drawing/2014/main" id="{F58A1435-6889-1FCA-9321-B924F588B215}"/>
              </a:ext>
            </a:extLst>
          </p:cNvPr>
          <p:cNvSpPr>
            <a:spLocks noChangeAspect="1" noChangeArrowheads="1"/>
          </p:cNvSpPr>
          <p:nvPr/>
        </p:nvSpPr>
        <p:spPr bwMode="auto">
          <a:xfrm>
            <a:off x="5943600" y="-1152832"/>
            <a:ext cx="4734232" cy="47342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KZ"/>
          </a:p>
        </p:txBody>
      </p:sp>
      <p:pic>
        <p:nvPicPr>
          <p:cNvPr id="8" name="Рисунок 7" descr="Изображение выглядит как текст, Человеческое лицо, снимок экрана, Мультимедийное программное обеспечение&#10;&#10;Контент, сгенерированный ИИ, может содержать ошибки.">
            <a:extLst>
              <a:ext uri="{FF2B5EF4-FFF2-40B4-BE49-F238E27FC236}">
                <a16:creationId xmlns:a16="http://schemas.microsoft.com/office/drawing/2014/main" id="{B68E52AC-C242-A1E9-E1BD-7E5824CC7B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9086" y="1840098"/>
            <a:ext cx="4566526" cy="3668099"/>
          </a:xfrm>
          <a:prstGeom prst="rect">
            <a:avLst/>
          </a:prstGeom>
        </p:spPr>
      </p:pic>
    </p:spTree>
    <p:extLst>
      <p:ext uri="{BB962C8B-B14F-4D97-AF65-F5344CB8AC3E}">
        <p14:creationId xmlns:p14="http://schemas.microsoft.com/office/powerpoint/2010/main" val="2557356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778C1D-6A28-250A-F264-36BB18FDF7DB}"/>
              </a:ext>
            </a:extLst>
          </p:cNvPr>
          <p:cNvSpPr txBox="1"/>
          <p:nvPr/>
        </p:nvSpPr>
        <p:spPr>
          <a:xfrm>
            <a:off x="993057" y="1211514"/>
            <a:ext cx="8672051" cy="707886"/>
          </a:xfrm>
          <a:prstGeom prst="rect">
            <a:avLst/>
          </a:prstGeom>
          <a:noFill/>
        </p:spPr>
        <p:txBody>
          <a:bodyPr wrap="square">
            <a:spAutoFit/>
          </a:bodyPr>
          <a:lstStyle/>
          <a:p>
            <a:pPr algn="l" fontAlgn="base"/>
            <a:r>
              <a:rPr lang="en-US" sz="4000" b="1" i="0" dirty="0">
                <a:effectLst/>
                <a:latin typeface="Inter"/>
              </a:rPr>
              <a:t>Stepwise Implementation:</a:t>
            </a:r>
          </a:p>
        </p:txBody>
      </p:sp>
      <p:sp>
        <p:nvSpPr>
          <p:cNvPr id="5" name="TextBox 4">
            <a:extLst>
              <a:ext uri="{FF2B5EF4-FFF2-40B4-BE49-F238E27FC236}">
                <a16:creationId xmlns:a16="http://schemas.microsoft.com/office/drawing/2014/main" id="{56429C70-5B9B-4B7F-E8FB-677EBD8878E2}"/>
              </a:ext>
            </a:extLst>
          </p:cNvPr>
          <p:cNvSpPr txBox="1"/>
          <p:nvPr/>
        </p:nvSpPr>
        <p:spPr>
          <a:xfrm>
            <a:off x="993057" y="2228671"/>
            <a:ext cx="3704829" cy="2862322"/>
          </a:xfrm>
          <a:prstGeom prst="rect">
            <a:avLst/>
          </a:prstGeom>
          <a:noFill/>
        </p:spPr>
        <p:txBody>
          <a:bodyPr wrap="square">
            <a:spAutoFit/>
          </a:bodyPr>
          <a:lstStyle/>
          <a:p>
            <a:r>
              <a:rPr lang="en-US" b="0" i="0" dirty="0">
                <a:effectLst/>
                <a:latin typeface="Inter"/>
              </a:rPr>
              <a:t>OpenCV comes with lots of pre-trained classifiers. Those XML files can be loaded by </a:t>
            </a:r>
            <a:r>
              <a:rPr lang="en-US" b="0" i="0" dirty="0" err="1">
                <a:effectLst/>
                <a:latin typeface="Inter"/>
              </a:rPr>
              <a:t>cascadeClassifier</a:t>
            </a:r>
            <a:r>
              <a:rPr lang="en-US" b="0" i="0" dirty="0">
                <a:effectLst/>
                <a:latin typeface="Inter"/>
              </a:rPr>
              <a:t> method of the cv2 module. Here </a:t>
            </a:r>
            <a:r>
              <a:rPr lang="en-US" dirty="0">
                <a:latin typeface="Inter"/>
              </a:rPr>
              <a:t>I am </a:t>
            </a:r>
            <a:r>
              <a:rPr lang="en-US" b="0" i="0" dirty="0">
                <a:effectLst/>
                <a:latin typeface="Inter"/>
              </a:rPr>
              <a:t>going to use haarcascade_frontalface_default.xml, haarcascade_eye.xml, haarcascade_frontalcatface.xml for detecting human faces, cat faces and count them.</a:t>
            </a:r>
            <a:endParaRPr lang="ru-KZ" dirty="0">
              <a:latin typeface="Inter"/>
            </a:endParaRPr>
          </a:p>
        </p:txBody>
      </p:sp>
      <p:pic>
        <p:nvPicPr>
          <p:cNvPr id="8" name="Рисунок 7">
            <a:extLst>
              <a:ext uri="{FF2B5EF4-FFF2-40B4-BE49-F238E27FC236}">
                <a16:creationId xmlns:a16="http://schemas.microsoft.com/office/drawing/2014/main" id="{C91F0652-6581-60AE-BF21-F68D7F8A4215}"/>
              </a:ext>
            </a:extLst>
          </p:cNvPr>
          <p:cNvPicPr>
            <a:picLocks noChangeAspect="1"/>
          </p:cNvPicPr>
          <p:nvPr/>
        </p:nvPicPr>
        <p:blipFill>
          <a:blip r:embed="rId2"/>
          <a:stretch>
            <a:fillRect/>
          </a:stretch>
        </p:blipFill>
        <p:spPr>
          <a:xfrm>
            <a:off x="4697886" y="2369233"/>
            <a:ext cx="7213174" cy="2858196"/>
          </a:xfrm>
          <a:prstGeom prst="rect">
            <a:avLst/>
          </a:prstGeom>
        </p:spPr>
      </p:pic>
    </p:spTree>
    <p:extLst>
      <p:ext uri="{BB962C8B-B14F-4D97-AF65-F5344CB8AC3E}">
        <p14:creationId xmlns:p14="http://schemas.microsoft.com/office/powerpoint/2010/main" val="2992322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1E1A54-7E71-5643-462F-4ED4F11488BA}"/>
              </a:ext>
            </a:extLst>
          </p:cNvPr>
          <p:cNvSpPr txBox="1"/>
          <p:nvPr/>
        </p:nvSpPr>
        <p:spPr>
          <a:xfrm>
            <a:off x="993057" y="1800756"/>
            <a:ext cx="6096000" cy="369332"/>
          </a:xfrm>
          <a:prstGeom prst="rect">
            <a:avLst/>
          </a:prstGeom>
          <a:noFill/>
        </p:spPr>
        <p:txBody>
          <a:bodyPr wrap="square">
            <a:spAutoFit/>
          </a:bodyPr>
          <a:lstStyle/>
          <a:p>
            <a:r>
              <a:rPr lang="en-US" dirty="0">
                <a:effectLst/>
              </a:rPr>
              <a:t>1. Import the necessary libraries</a:t>
            </a:r>
            <a:endParaRPr lang="ru-KZ" dirty="0"/>
          </a:p>
        </p:txBody>
      </p:sp>
      <p:sp>
        <p:nvSpPr>
          <p:cNvPr id="4" name="TextBox 3">
            <a:extLst>
              <a:ext uri="{FF2B5EF4-FFF2-40B4-BE49-F238E27FC236}">
                <a16:creationId xmlns:a16="http://schemas.microsoft.com/office/drawing/2014/main" id="{CA3FF97E-BDE6-0243-04C3-E6D4C8001A8E}"/>
              </a:ext>
            </a:extLst>
          </p:cNvPr>
          <p:cNvSpPr txBox="1"/>
          <p:nvPr/>
        </p:nvSpPr>
        <p:spPr>
          <a:xfrm>
            <a:off x="993057" y="898791"/>
            <a:ext cx="8672051" cy="707886"/>
          </a:xfrm>
          <a:prstGeom prst="rect">
            <a:avLst/>
          </a:prstGeom>
          <a:noFill/>
        </p:spPr>
        <p:txBody>
          <a:bodyPr wrap="square">
            <a:spAutoFit/>
          </a:bodyPr>
          <a:lstStyle/>
          <a:p>
            <a:pPr algn="l" fontAlgn="base"/>
            <a:r>
              <a:rPr lang="en-US" sz="4000" b="1" i="0" dirty="0">
                <a:effectLst/>
                <a:latin typeface="Inter"/>
              </a:rPr>
              <a:t>Stepwise Implementation:</a:t>
            </a:r>
          </a:p>
        </p:txBody>
      </p:sp>
      <p:sp>
        <p:nvSpPr>
          <p:cNvPr id="8" name="TextBox 7">
            <a:extLst>
              <a:ext uri="{FF2B5EF4-FFF2-40B4-BE49-F238E27FC236}">
                <a16:creationId xmlns:a16="http://schemas.microsoft.com/office/drawing/2014/main" id="{1FA54AA9-DA7B-F8AA-E815-A4E379A31D17}"/>
              </a:ext>
            </a:extLst>
          </p:cNvPr>
          <p:cNvSpPr txBox="1"/>
          <p:nvPr/>
        </p:nvSpPr>
        <p:spPr>
          <a:xfrm>
            <a:off x="994733" y="2364167"/>
            <a:ext cx="6094324" cy="369332"/>
          </a:xfrm>
          <a:prstGeom prst="rect">
            <a:avLst/>
          </a:prstGeom>
          <a:noFill/>
        </p:spPr>
        <p:txBody>
          <a:bodyPr wrap="square">
            <a:spAutoFit/>
          </a:bodyPr>
          <a:lstStyle/>
          <a:p>
            <a:r>
              <a:rPr lang="en-US" dirty="0">
                <a:effectLst/>
              </a:rPr>
              <a:t>2. Loading pre-trained classifiers</a:t>
            </a:r>
            <a:endParaRPr lang="ru-KZ" dirty="0"/>
          </a:p>
        </p:txBody>
      </p:sp>
      <p:sp>
        <p:nvSpPr>
          <p:cNvPr id="10" name="TextBox 9">
            <a:extLst>
              <a:ext uri="{FF2B5EF4-FFF2-40B4-BE49-F238E27FC236}">
                <a16:creationId xmlns:a16="http://schemas.microsoft.com/office/drawing/2014/main" id="{5677A44D-309D-5A67-BF49-2BB5445D998D}"/>
              </a:ext>
            </a:extLst>
          </p:cNvPr>
          <p:cNvSpPr txBox="1"/>
          <p:nvPr/>
        </p:nvSpPr>
        <p:spPr>
          <a:xfrm>
            <a:off x="993057" y="2927578"/>
            <a:ext cx="6096000" cy="923330"/>
          </a:xfrm>
          <a:prstGeom prst="rect">
            <a:avLst/>
          </a:prstGeom>
          <a:noFill/>
        </p:spPr>
        <p:txBody>
          <a:bodyPr wrap="square">
            <a:spAutoFit/>
          </a:bodyPr>
          <a:lstStyle/>
          <a:p>
            <a:r>
              <a:rPr lang="en-US" dirty="0"/>
              <a:t>3. Opening the Webcam</a:t>
            </a:r>
            <a:endParaRPr lang="ru-RU" dirty="0"/>
          </a:p>
          <a:p>
            <a:r>
              <a:rPr lang="en-US" dirty="0">
                <a:effectLst/>
              </a:rPr>
              <a:t>Creating a cap object that captures video from a webcam (0 means the first camera).</a:t>
            </a:r>
            <a:endParaRPr lang="ru-KZ" dirty="0"/>
          </a:p>
        </p:txBody>
      </p:sp>
      <p:pic>
        <p:nvPicPr>
          <p:cNvPr id="12" name="Рисунок 11">
            <a:extLst>
              <a:ext uri="{FF2B5EF4-FFF2-40B4-BE49-F238E27FC236}">
                <a16:creationId xmlns:a16="http://schemas.microsoft.com/office/drawing/2014/main" id="{3843ABAF-F984-4AE4-DC62-84B5854C3F86}"/>
              </a:ext>
            </a:extLst>
          </p:cNvPr>
          <p:cNvPicPr>
            <a:picLocks noChangeAspect="1"/>
          </p:cNvPicPr>
          <p:nvPr/>
        </p:nvPicPr>
        <p:blipFill>
          <a:blip r:embed="rId2"/>
          <a:stretch>
            <a:fillRect/>
          </a:stretch>
        </p:blipFill>
        <p:spPr>
          <a:xfrm>
            <a:off x="993057" y="3969463"/>
            <a:ext cx="7983064" cy="2429214"/>
          </a:xfrm>
          <a:prstGeom prst="rect">
            <a:avLst/>
          </a:prstGeom>
        </p:spPr>
      </p:pic>
      <p:pic>
        <p:nvPicPr>
          <p:cNvPr id="14" name="Рисунок 13">
            <a:extLst>
              <a:ext uri="{FF2B5EF4-FFF2-40B4-BE49-F238E27FC236}">
                <a16:creationId xmlns:a16="http://schemas.microsoft.com/office/drawing/2014/main" id="{0AC0AEAB-79AC-13E2-E6A1-FC001C319C2F}"/>
              </a:ext>
            </a:extLst>
          </p:cNvPr>
          <p:cNvPicPr>
            <a:picLocks noChangeAspect="1"/>
          </p:cNvPicPr>
          <p:nvPr/>
        </p:nvPicPr>
        <p:blipFill>
          <a:blip r:embed="rId3"/>
          <a:stretch>
            <a:fillRect/>
          </a:stretch>
        </p:blipFill>
        <p:spPr>
          <a:xfrm>
            <a:off x="9129846" y="1249568"/>
            <a:ext cx="2486372" cy="3077004"/>
          </a:xfrm>
          <a:prstGeom prst="rect">
            <a:avLst/>
          </a:prstGeom>
        </p:spPr>
      </p:pic>
    </p:spTree>
    <p:extLst>
      <p:ext uri="{BB962C8B-B14F-4D97-AF65-F5344CB8AC3E}">
        <p14:creationId xmlns:p14="http://schemas.microsoft.com/office/powerpoint/2010/main" val="218805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2BD6D2-0348-61DB-AEB7-19B36D7EAAFC}"/>
              </a:ext>
            </a:extLst>
          </p:cNvPr>
          <p:cNvSpPr txBox="1"/>
          <p:nvPr/>
        </p:nvSpPr>
        <p:spPr>
          <a:xfrm>
            <a:off x="993057" y="898791"/>
            <a:ext cx="8672051" cy="707886"/>
          </a:xfrm>
          <a:prstGeom prst="rect">
            <a:avLst/>
          </a:prstGeom>
          <a:noFill/>
        </p:spPr>
        <p:txBody>
          <a:bodyPr wrap="square">
            <a:spAutoFit/>
          </a:bodyPr>
          <a:lstStyle/>
          <a:p>
            <a:pPr algn="l" fontAlgn="base"/>
            <a:r>
              <a:rPr lang="en-US" sz="4000" b="1" i="0" dirty="0">
                <a:effectLst/>
                <a:latin typeface="Inter"/>
              </a:rPr>
              <a:t>Stepwise Implementation:</a:t>
            </a:r>
          </a:p>
        </p:txBody>
      </p:sp>
      <p:sp>
        <p:nvSpPr>
          <p:cNvPr id="4" name="TextBox 3">
            <a:extLst>
              <a:ext uri="{FF2B5EF4-FFF2-40B4-BE49-F238E27FC236}">
                <a16:creationId xmlns:a16="http://schemas.microsoft.com/office/drawing/2014/main" id="{68130EE4-6274-622A-362A-673BC64A058F}"/>
              </a:ext>
            </a:extLst>
          </p:cNvPr>
          <p:cNvSpPr txBox="1"/>
          <p:nvPr/>
        </p:nvSpPr>
        <p:spPr>
          <a:xfrm>
            <a:off x="993057" y="1968599"/>
            <a:ext cx="6096000" cy="2031325"/>
          </a:xfrm>
          <a:prstGeom prst="rect">
            <a:avLst/>
          </a:prstGeom>
          <a:noFill/>
        </p:spPr>
        <p:txBody>
          <a:bodyPr wrap="square">
            <a:spAutoFit/>
          </a:bodyPr>
          <a:lstStyle/>
          <a:p>
            <a:r>
              <a:rPr lang="en-US" dirty="0"/>
              <a:t>4. </a:t>
            </a:r>
            <a:r>
              <a:rPr lang="ru-KZ" dirty="0"/>
              <a:t>The </a:t>
            </a:r>
            <a:r>
              <a:rPr lang="ru-KZ" dirty="0" err="1"/>
              <a:t>main</a:t>
            </a:r>
            <a:r>
              <a:rPr lang="ru-KZ" dirty="0"/>
              <a:t> </a:t>
            </a:r>
            <a:r>
              <a:rPr lang="ru-KZ" dirty="0" err="1"/>
              <a:t>video</a:t>
            </a:r>
            <a:r>
              <a:rPr lang="ru-KZ" dirty="0"/>
              <a:t> </a:t>
            </a:r>
            <a:r>
              <a:rPr lang="ru-KZ" dirty="0" err="1"/>
              <a:t>processing</a:t>
            </a:r>
            <a:r>
              <a:rPr lang="ru-KZ" dirty="0"/>
              <a:t> </a:t>
            </a:r>
            <a:r>
              <a:rPr lang="ru-KZ" dirty="0" err="1"/>
              <a:t>cycle</a:t>
            </a:r>
            <a:endParaRPr lang="en-US" dirty="0"/>
          </a:p>
          <a:p>
            <a:r>
              <a:rPr lang="en-US" dirty="0"/>
              <a:t>We run an endless loop to process each frame from the camera.</a:t>
            </a:r>
          </a:p>
          <a:p>
            <a:r>
              <a:rPr lang="en-US" dirty="0" err="1"/>
              <a:t>cap.read</a:t>
            </a:r>
            <a:r>
              <a:rPr lang="en-US" dirty="0"/>
              <a:t>() → takes a new frame from the </a:t>
            </a:r>
            <a:r>
              <a:rPr lang="en-US" dirty="0" err="1"/>
              <a:t>camera.ret</a:t>
            </a:r>
            <a:r>
              <a:rPr lang="en-US" dirty="0"/>
              <a:t> → True if the frame was successfully read, otherwise False (for example, if the camera is disabled).break → exit the loop if the image could not be retrieved.</a:t>
            </a:r>
            <a:endParaRPr lang="ru-KZ" dirty="0"/>
          </a:p>
        </p:txBody>
      </p:sp>
      <p:pic>
        <p:nvPicPr>
          <p:cNvPr id="6" name="Рисунок 5">
            <a:extLst>
              <a:ext uri="{FF2B5EF4-FFF2-40B4-BE49-F238E27FC236}">
                <a16:creationId xmlns:a16="http://schemas.microsoft.com/office/drawing/2014/main" id="{E0BD4A01-02B8-B516-64C2-1E4B915398F7}"/>
              </a:ext>
            </a:extLst>
          </p:cNvPr>
          <p:cNvPicPr>
            <a:picLocks noChangeAspect="1"/>
          </p:cNvPicPr>
          <p:nvPr/>
        </p:nvPicPr>
        <p:blipFill>
          <a:blip r:embed="rId2"/>
          <a:stretch>
            <a:fillRect/>
          </a:stretch>
        </p:blipFill>
        <p:spPr>
          <a:xfrm>
            <a:off x="993057" y="4361846"/>
            <a:ext cx="6744641" cy="1238423"/>
          </a:xfrm>
          <a:prstGeom prst="rect">
            <a:avLst/>
          </a:prstGeom>
        </p:spPr>
      </p:pic>
    </p:spTree>
    <p:extLst>
      <p:ext uri="{BB962C8B-B14F-4D97-AF65-F5344CB8AC3E}">
        <p14:creationId xmlns:p14="http://schemas.microsoft.com/office/powerpoint/2010/main" val="4177582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4721493-BC1B-7C12-6DF8-1A784D4F7F61}"/>
              </a:ext>
            </a:extLst>
          </p:cNvPr>
          <p:cNvSpPr txBox="1"/>
          <p:nvPr/>
        </p:nvSpPr>
        <p:spPr>
          <a:xfrm>
            <a:off x="1009650" y="1092200"/>
            <a:ext cx="8985250" cy="1118394"/>
          </a:xfrm>
          <a:prstGeom prst="rect">
            <a:avLst/>
          </a:prstGeom>
        </p:spPr>
        <p:txBody>
          <a:bodyPr vert="horz" lIns="91440" tIns="45720" rIns="91440" bIns="45720" rtlCol="0" anchor="t">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Stepwise Implementation:</a:t>
            </a:r>
          </a:p>
        </p:txBody>
      </p:sp>
      <p:sp>
        <p:nvSpPr>
          <p:cNvPr id="3" name="TextBox 2">
            <a:extLst>
              <a:ext uri="{FF2B5EF4-FFF2-40B4-BE49-F238E27FC236}">
                <a16:creationId xmlns:a16="http://schemas.microsoft.com/office/drawing/2014/main" id="{AAC846A7-5D0A-40C6-DA4D-1F4F8696FCF4}"/>
              </a:ext>
            </a:extLst>
          </p:cNvPr>
          <p:cNvSpPr txBox="1"/>
          <p:nvPr/>
        </p:nvSpPr>
        <p:spPr>
          <a:xfrm>
            <a:off x="1009650" y="1847849"/>
            <a:ext cx="9994900" cy="4254501"/>
          </a:xfrm>
          <a:prstGeom prst="rect">
            <a:avLst/>
          </a:prstGeom>
        </p:spPr>
        <p:txBody>
          <a:bodyPr vert="horz" lIns="91440" tIns="45720" rIns="91440" bIns="45720" rtlCol="0">
            <a:normAutofit/>
          </a:bodyPr>
          <a:lstStyle/>
          <a:p>
            <a:pPr>
              <a:lnSpc>
                <a:spcPct val="90000"/>
              </a:lnSpc>
              <a:spcAft>
                <a:spcPts val="600"/>
              </a:spcAft>
            </a:pPr>
            <a:r>
              <a:rPr lang="en-US" sz="2000" dirty="0"/>
              <a:t>5. Detecting Faces and Cats</a:t>
            </a:r>
            <a:endParaRPr lang="ru-RU" sz="2000" dirty="0"/>
          </a:p>
          <a:p>
            <a:pPr>
              <a:lnSpc>
                <a:spcPct val="90000"/>
              </a:lnSpc>
              <a:spcAft>
                <a:spcPts val="600"/>
              </a:spcAft>
            </a:pPr>
            <a:r>
              <a:rPr kumimoji="0" lang="en-US" altLang="ru-KZ" sz="2000" b="0" i="0" u="none" strike="noStrike" cap="none" normalizeH="0" baseline="0" dirty="0">
                <a:ln>
                  <a:noFill/>
                </a:ln>
                <a:effectLst/>
              </a:rPr>
              <a:t>.</a:t>
            </a:r>
            <a:r>
              <a:rPr kumimoji="0" lang="en-US" altLang="ru-KZ" sz="2000" b="0" i="0" u="none" strike="noStrike" cap="none" normalizeH="0" baseline="0" dirty="0" err="1">
                <a:ln>
                  <a:noFill/>
                </a:ln>
                <a:effectLst/>
              </a:rPr>
              <a:t>detectMultiScale</a:t>
            </a:r>
            <a:r>
              <a:rPr kumimoji="0" lang="en-US" altLang="ru-KZ" sz="2000" b="0" i="0" u="none" strike="noStrike" cap="none" normalizeH="0" baseline="0" dirty="0">
                <a:ln>
                  <a:noFill/>
                </a:ln>
                <a:effectLst/>
              </a:rPr>
              <a:t>() finds </a:t>
            </a:r>
            <a:r>
              <a:rPr kumimoji="0" lang="en-US" altLang="ru-KZ" sz="2000" b="1" i="0" u="none" strike="noStrike" cap="none" normalizeH="0" baseline="0" dirty="0">
                <a:ln>
                  <a:noFill/>
                </a:ln>
                <a:effectLst/>
              </a:rPr>
              <a:t>faces/cats</a:t>
            </a:r>
            <a:r>
              <a:rPr kumimoji="0" lang="en-US" altLang="ru-KZ" sz="2000" b="0" i="0" u="none" strike="noStrike" cap="none" normalizeH="0" baseline="0" dirty="0">
                <a:ln>
                  <a:noFill/>
                </a:ln>
                <a:effectLst/>
              </a:rPr>
              <a:t> in the frame.</a:t>
            </a:r>
          </a:p>
          <a:p>
            <a:pPr marR="0" lvl="0" fontAlgn="base">
              <a:lnSpc>
                <a:spcPct val="90000"/>
              </a:lnSpc>
              <a:spcBef>
                <a:spcPct val="0"/>
              </a:spcBef>
              <a:spcAft>
                <a:spcPts val="600"/>
              </a:spcAft>
              <a:buClrTx/>
              <a:buSzTx/>
              <a:tabLst/>
            </a:pPr>
            <a:r>
              <a:rPr kumimoji="0" lang="en-US" altLang="ru-KZ" sz="2000" b="1" i="0" u="none" strike="noStrike" cap="none" normalizeH="0" baseline="0" dirty="0">
                <a:ln>
                  <a:noFill/>
                </a:ln>
                <a:effectLst/>
              </a:rPr>
              <a:t>Method parameters:</a:t>
            </a:r>
            <a:endParaRPr kumimoji="0" lang="en-US" altLang="ru-KZ" sz="20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ru-KZ" sz="2000" b="0" i="0" u="none" strike="noStrike" cap="none" normalizeH="0" baseline="0" dirty="0" err="1">
                <a:ln>
                  <a:noFill/>
                </a:ln>
                <a:effectLst/>
              </a:rPr>
              <a:t>scaleFactor</a:t>
            </a:r>
            <a:r>
              <a:rPr kumimoji="0" lang="en-US" altLang="ru-KZ" sz="2000" b="0" i="0" u="none" strike="noStrike" cap="none" normalizeH="0" baseline="0" dirty="0">
                <a:ln>
                  <a:noFill/>
                </a:ln>
                <a:effectLst/>
              </a:rPr>
              <a:t>=1.3 — reduces the image by 30% at each scale (helps reduce false positives).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ru-KZ" sz="2000" b="0" i="0" u="none" strike="noStrike" cap="none" normalizeH="0" baseline="0" dirty="0" err="1">
                <a:ln>
                  <a:noFill/>
                </a:ln>
                <a:effectLst/>
              </a:rPr>
              <a:t>minNeighbors</a:t>
            </a:r>
            <a:r>
              <a:rPr kumimoji="0" lang="en-US" altLang="ru-KZ" sz="2000" b="0" i="0" u="none" strike="noStrike" cap="none" normalizeH="0" baseline="0" dirty="0">
                <a:ln>
                  <a:noFill/>
                </a:ln>
                <a:effectLst/>
              </a:rPr>
              <a:t>=5 — minimum number of neighboring rectangles required to confirm an object (higher values = fewer false positives).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ru-KZ" sz="2000" b="0" i="0" u="none" strike="noStrike" cap="none" normalizeH="0" baseline="0" dirty="0" err="1">
                <a:ln>
                  <a:noFill/>
                </a:ln>
                <a:effectLst/>
              </a:rPr>
              <a:t>minSize</a:t>
            </a:r>
            <a:r>
              <a:rPr kumimoji="0" lang="en-US" altLang="ru-KZ" sz="2000" b="0" i="0" u="none" strike="noStrike" cap="none" normalizeH="0" baseline="0" dirty="0">
                <a:ln>
                  <a:noFill/>
                </a:ln>
                <a:effectLst/>
              </a:rPr>
              <a:t>=(30, 30) — minimum object size to be detected.</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ru-KZ" sz="2000" b="0" i="0" u="none" strike="noStrike" cap="none" normalizeH="0" baseline="0" dirty="0">
              <a:ln>
                <a:noFill/>
              </a:ln>
              <a:effectLst/>
            </a:endParaRP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p:pic>
        <p:nvPicPr>
          <p:cNvPr id="10" name="Рисунок 9">
            <a:extLst>
              <a:ext uri="{FF2B5EF4-FFF2-40B4-BE49-F238E27FC236}">
                <a16:creationId xmlns:a16="http://schemas.microsoft.com/office/drawing/2014/main" id="{38ED43E5-3D6A-049B-68F8-3D5081628EDD}"/>
              </a:ext>
            </a:extLst>
          </p:cNvPr>
          <p:cNvPicPr>
            <a:picLocks noChangeAspect="1"/>
          </p:cNvPicPr>
          <p:nvPr/>
        </p:nvPicPr>
        <p:blipFill>
          <a:blip r:embed="rId2"/>
          <a:stretch>
            <a:fillRect/>
          </a:stretch>
        </p:blipFill>
        <p:spPr>
          <a:xfrm>
            <a:off x="1187450" y="4777372"/>
            <a:ext cx="9116697" cy="619211"/>
          </a:xfrm>
          <a:prstGeom prst="rect">
            <a:avLst/>
          </a:prstGeom>
        </p:spPr>
      </p:pic>
    </p:spTree>
    <p:extLst>
      <p:ext uri="{BB962C8B-B14F-4D97-AF65-F5344CB8AC3E}">
        <p14:creationId xmlns:p14="http://schemas.microsoft.com/office/powerpoint/2010/main" val="1101129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0941A2-F675-BC76-68F5-86B036260BE5}"/>
              </a:ext>
            </a:extLst>
          </p:cNvPr>
          <p:cNvSpPr txBox="1"/>
          <p:nvPr/>
        </p:nvSpPr>
        <p:spPr>
          <a:xfrm>
            <a:off x="432896" y="937044"/>
            <a:ext cx="8985250" cy="1118394"/>
          </a:xfrm>
          <a:prstGeom prst="rect">
            <a:avLst/>
          </a:prstGeom>
        </p:spPr>
        <p:txBody>
          <a:bodyPr vert="horz" lIns="91440" tIns="45720" rIns="91440" bIns="45720" rtlCol="0" anchor="t">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Stepwise Implementation:</a:t>
            </a:r>
          </a:p>
        </p:txBody>
      </p:sp>
      <p:sp>
        <p:nvSpPr>
          <p:cNvPr id="4" name="TextBox 3">
            <a:extLst>
              <a:ext uri="{FF2B5EF4-FFF2-40B4-BE49-F238E27FC236}">
                <a16:creationId xmlns:a16="http://schemas.microsoft.com/office/drawing/2014/main" id="{556198DC-F77A-EEC9-EAB9-C9C5592455B4}"/>
              </a:ext>
            </a:extLst>
          </p:cNvPr>
          <p:cNvSpPr txBox="1"/>
          <p:nvPr/>
        </p:nvSpPr>
        <p:spPr>
          <a:xfrm>
            <a:off x="432896" y="1799800"/>
            <a:ext cx="5387801" cy="4524315"/>
          </a:xfrm>
          <a:prstGeom prst="rect">
            <a:avLst/>
          </a:prstGeom>
          <a:noFill/>
        </p:spPr>
        <p:txBody>
          <a:bodyPr wrap="square">
            <a:spAutoFit/>
          </a:bodyPr>
          <a:lstStyle/>
          <a:p>
            <a:r>
              <a:rPr lang="ru-RU" dirty="0"/>
              <a:t>6. </a:t>
            </a:r>
            <a:r>
              <a:rPr lang="en-US" dirty="0"/>
              <a:t>Counting Objects</a:t>
            </a:r>
            <a:endParaRPr lang="ru-RU" dirty="0"/>
          </a:p>
          <a:p>
            <a:r>
              <a:rPr lang="en-US" dirty="0"/>
              <a:t>Simply counts how many faces and cats were detected.</a:t>
            </a:r>
            <a:endParaRPr lang="ru-RU" dirty="0"/>
          </a:p>
          <a:p>
            <a:endParaRPr lang="ru-RU" dirty="0"/>
          </a:p>
          <a:p>
            <a:r>
              <a:rPr lang="ru-RU" dirty="0"/>
              <a:t>7. </a:t>
            </a:r>
            <a:r>
              <a:rPr lang="en-US" dirty="0"/>
              <a:t>Drawing Rectangles Around Faces</a:t>
            </a:r>
            <a:endParaRPr lang="ru-RU" dirty="0"/>
          </a:p>
          <a:p>
            <a:r>
              <a:rPr lang="en-US" dirty="0"/>
              <a:t>This loop iterates through all detected faces and draws a blue rectangle around them</a:t>
            </a:r>
            <a:r>
              <a:rPr lang="ru-RU" dirty="0"/>
              <a:t> ((255</a:t>
            </a:r>
            <a:r>
              <a:rPr lang="en-US" dirty="0"/>
              <a:t>, 0, 0) – blue color)</a:t>
            </a:r>
          </a:p>
          <a:p>
            <a:endParaRPr lang="en-US" dirty="0"/>
          </a:p>
          <a:p>
            <a:r>
              <a:rPr lang="en-US" dirty="0"/>
              <a:t>8. Detecting Eyes Within the Face</a:t>
            </a:r>
          </a:p>
          <a:p>
            <a:r>
              <a:rPr lang="en-US" dirty="0"/>
              <a:t>We crop the face region to search for eyes only within it.</a:t>
            </a:r>
          </a:p>
          <a:p>
            <a:r>
              <a:rPr lang="en-US" dirty="0"/>
              <a:t>.</a:t>
            </a:r>
            <a:r>
              <a:rPr lang="en-US" dirty="0" err="1"/>
              <a:t>detectMultiScale</a:t>
            </a:r>
            <a:r>
              <a:rPr lang="en-US" dirty="0"/>
              <a:t>() finds eyes inside the detected face.</a:t>
            </a:r>
          </a:p>
          <a:p>
            <a:r>
              <a:rPr lang="en-US" dirty="0"/>
              <a:t>If eyes are detected, a yellow rectangle is drawn around them ((0, 255, 255) – yellow color)</a:t>
            </a:r>
          </a:p>
        </p:txBody>
      </p:sp>
      <p:pic>
        <p:nvPicPr>
          <p:cNvPr id="10" name="Рисунок 9">
            <a:extLst>
              <a:ext uri="{FF2B5EF4-FFF2-40B4-BE49-F238E27FC236}">
                <a16:creationId xmlns:a16="http://schemas.microsoft.com/office/drawing/2014/main" id="{6A6CC44A-09FE-AD33-9CAE-6CF0937412D0}"/>
              </a:ext>
            </a:extLst>
          </p:cNvPr>
          <p:cNvPicPr>
            <a:picLocks noChangeAspect="1"/>
          </p:cNvPicPr>
          <p:nvPr/>
        </p:nvPicPr>
        <p:blipFill>
          <a:blip r:embed="rId2"/>
          <a:stretch>
            <a:fillRect/>
          </a:stretch>
        </p:blipFill>
        <p:spPr>
          <a:xfrm>
            <a:off x="5820697" y="2674373"/>
            <a:ext cx="6353259" cy="1892216"/>
          </a:xfrm>
          <a:prstGeom prst="rect">
            <a:avLst/>
          </a:prstGeom>
        </p:spPr>
      </p:pic>
    </p:spTree>
    <p:extLst>
      <p:ext uri="{BB962C8B-B14F-4D97-AF65-F5344CB8AC3E}">
        <p14:creationId xmlns:p14="http://schemas.microsoft.com/office/powerpoint/2010/main" val="99660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340C07-B345-8B5D-428D-4820FA4D627E}"/>
              </a:ext>
            </a:extLst>
          </p:cNvPr>
          <p:cNvSpPr txBox="1"/>
          <p:nvPr/>
        </p:nvSpPr>
        <p:spPr>
          <a:xfrm>
            <a:off x="466606" y="1302743"/>
            <a:ext cx="8985250" cy="1118394"/>
          </a:xfrm>
          <a:prstGeom prst="rect">
            <a:avLst/>
          </a:prstGeom>
        </p:spPr>
        <p:txBody>
          <a:bodyPr vert="horz" lIns="91440" tIns="45720" rIns="91440" bIns="45720" rtlCol="0" anchor="t">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Stepwise Implementation:</a:t>
            </a:r>
          </a:p>
        </p:txBody>
      </p:sp>
      <p:sp>
        <p:nvSpPr>
          <p:cNvPr id="4" name="TextBox 3">
            <a:extLst>
              <a:ext uri="{FF2B5EF4-FFF2-40B4-BE49-F238E27FC236}">
                <a16:creationId xmlns:a16="http://schemas.microsoft.com/office/drawing/2014/main" id="{2064BC2E-3078-45AD-80EB-820966F74214}"/>
              </a:ext>
            </a:extLst>
          </p:cNvPr>
          <p:cNvSpPr txBox="1"/>
          <p:nvPr/>
        </p:nvSpPr>
        <p:spPr>
          <a:xfrm>
            <a:off x="466606" y="2421137"/>
            <a:ext cx="10626773" cy="2862322"/>
          </a:xfrm>
          <a:prstGeom prst="rect">
            <a:avLst/>
          </a:prstGeom>
          <a:noFill/>
        </p:spPr>
        <p:txBody>
          <a:bodyPr wrap="square">
            <a:spAutoFit/>
          </a:bodyPr>
          <a:lstStyle/>
          <a:p>
            <a:r>
              <a:rPr lang="en-US" dirty="0"/>
              <a:t>9. Drawing Rectangles Around Cats</a:t>
            </a:r>
            <a:endParaRPr lang="ru-RU" dirty="0"/>
          </a:p>
          <a:p>
            <a:r>
              <a:rPr lang="en-US" dirty="0"/>
              <a:t>For each detected cat, a green rectangle is drawn.</a:t>
            </a:r>
            <a:endParaRPr lang="ru-RU" dirty="0"/>
          </a:p>
          <a:p>
            <a:r>
              <a:rPr lang="en-US" dirty="0"/>
              <a:t>The text</a:t>
            </a:r>
            <a:r>
              <a:rPr lang="ru-RU" dirty="0"/>
              <a:t> «</a:t>
            </a:r>
            <a:r>
              <a:rPr lang="en-US" dirty="0"/>
              <a:t>Cat</a:t>
            </a:r>
            <a:r>
              <a:rPr lang="ru-RU" dirty="0"/>
              <a:t>!»</a:t>
            </a:r>
            <a:r>
              <a:rPr lang="en-US" dirty="0"/>
              <a:t> is displayed above the cat’s head.</a:t>
            </a:r>
          </a:p>
          <a:p>
            <a:endParaRPr lang="en-US" dirty="0"/>
          </a:p>
          <a:p>
            <a:r>
              <a:rPr lang="en-US" dirty="0"/>
              <a:t>10. Displaying the Number of People and Cats</a:t>
            </a:r>
          </a:p>
          <a:p>
            <a:r>
              <a:rPr lang="en-US" dirty="0"/>
              <a:t>Red text (0, 0, 255) shows the number of people.</a:t>
            </a:r>
          </a:p>
          <a:p>
            <a:r>
              <a:rPr lang="en-US" dirty="0"/>
              <a:t>Green text (0, 255, 0) shows the number of cats.</a:t>
            </a:r>
          </a:p>
          <a:p>
            <a:endParaRPr lang="en-US" dirty="0"/>
          </a:p>
          <a:p>
            <a:r>
              <a:rPr lang="en-US" dirty="0"/>
              <a:t>11. Displaying the Processed Video</a:t>
            </a:r>
          </a:p>
          <a:p>
            <a:r>
              <a:rPr lang="en-US" dirty="0"/>
              <a:t>Displays the processed frame in a window.</a:t>
            </a:r>
            <a:endParaRPr lang="ru-KZ" dirty="0"/>
          </a:p>
        </p:txBody>
      </p:sp>
      <p:pic>
        <p:nvPicPr>
          <p:cNvPr id="8" name="Рисунок 7">
            <a:extLst>
              <a:ext uri="{FF2B5EF4-FFF2-40B4-BE49-F238E27FC236}">
                <a16:creationId xmlns:a16="http://schemas.microsoft.com/office/drawing/2014/main" id="{3A78326A-F286-EB48-9F95-B647C6D2CE36}"/>
              </a:ext>
            </a:extLst>
          </p:cNvPr>
          <p:cNvPicPr>
            <a:picLocks noChangeAspect="1"/>
          </p:cNvPicPr>
          <p:nvPr/>
        </p:nvPicPr>
        <p:blipFill>
          <a:blip r:embed="rId2"/>
          <a:stretch>
            <a:fillRect/>
          </a:stretch>
        </p:blipFill>
        <p:spPr>
          <a:xfrm>
            <a:off x="5556738" y="2943600"/>
            <a:ext cx="6494585" cy="1817396"/>
          </a:xfrm>
          <a:prstGeom prst="rect">
            <a:avLst/>
          </a:prstGeom>
        </p:spPr>
      </p:pic>
    </p:spTree>
    <p:extLst>
      <p:ext uri="{BB962C8B-B14F-4D97-AF65-F5344CB8AC3E}">
        <p14:creationId xmlns:p14="http://schemas.microsoft.com/office/powerpoint/2010/main" val="2460646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4656D14-BF72-3F37-FB79-CB1B6737D9BD}"/>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kern="1200">
                <a:solidFill>
                  <a:schemeClr val="tx1"/>
                </a:solidFill>
                <a:latin typeface="+mj-lt"/>
                <a:ea typeface="+mj-ea"/>
                <a:cs typeface="+mj-cs"/>
              </a:rPr>
              <a:t>The result</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Рисунок 4" descr="Изображение выглядит как текст, Человеческое лицо, человек, улыбка&#10;&#10;Контент, сгенерированный ИИ, может содержать ошибки.">
            <a:extLst>
              <a:ext uri="{FF2B5EF4-FFF2-40B4-BE49-F238E27FC236}">
                <a16:creationId xmlns:a16="http://schemas.microsoft.com/office/drawing/2014/main" id="{930B530B-79A6-6176-A94A-92E2A80202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9355" y="625683"/>
            <a:ext cx="6776869" cy="5455380"/>
          </a:xfrm>
          <a:prstGeom prst="rect">
            <a:avLst/>
          </a:prstGeom>
        </p:spPr>
      </p:pic>
      <p:sp>
        <p:nvSpPr>
          <p:cNvPr id="3" name="AutoShape 2">
            <a:extLst>
              <a:ext uri="{FF2B5EF4-FFF2-40B4-BE49-F238E27FC236}">
                <a16:creationId xmlns:a16="http://schemas.microsoft.com/office/drawing/2014/main" id="{16684BBF-8810-92D1-FD2D-D37638FF770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KZ"/>
          </a:p>
        </p:txBody>
      </p:sp>
    </p:spTree>
    <p:extLst>
      <p:ext uri="{BB962C8B-B14F-4D97-AF65-F5344CB8AC3E}">
        <p14:creationId xmlns:p14="http://schemas.microsoft.com/office/powerpoint/2010/main" val="1783291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96BF4330-0131-F389-DF0A-D658C25510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90" y="0"/>
            <a:ext cx="690562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7714985-A988-4D2D-4158-F23AF62C27B1}"/>
              </a:ext>
            </a:extLst>
          </p:cNvPr>
          <p:cNvSpPr txBox="1"/>
          <p:nvPr/>
        </p:nvSpPr>
        <p:spPr>
          <a:xfrm>
            <a:off x="2172930" y="944209"/>
            <a:ext cx="4382674" cy="2918748"/>
          </a:xfrm>
          <a:prstGeom prst="rect">
            <a:avLst/>
          </a:prstGeom>
          <a:noFill/>
        </p:spPr>
        <p:txBody>
          <a:bodyPr wrap="square">
            <a:spAutoFit/>
          </a:bodyPr>
          <a:lstStyle/>
          <a:p>
            <a:pPr marR="0" lvl="0" fontAlgn="base">
              <a:lnSpc>
                <a:spcPct val="90000"/>
              </a:lnSpc>
              <a:spcBef>
                <a:spcPct val="0"/>
              </a:spcBef>
              <a:spcAft>
                <a:spcPts val="600"/>
              </a:spcAft>
              <a:buClrTx/>
              <a:buSzTx/>
              <a:tabLst/>
            </a:pPr>
            <a:r>
              <a:rPr kumimoji="0" lang="en-US" altLang="ru-KZ" sz="1200" i="0" u="none" strike="noStrike" cap="none" normalizeH="0" baseline="0" dirty="0">
                <a:ln>
                  <a:noFill/>
                </a:ln>
                <a:effectLst/>
              </a:rPr>
              <a:t>The Viola-Jones algorithm and </a:t>
            </a:r>
            <a:r>
              <a:rPr kumimoji="0" lang="en-US" altLang="ru-KZ" sz="1200" i="0" u="none" strike="noStrike" cap="none" normalizeH="0" baseline="0" dirty="0" err="1">
                <a:ln>
                  <a:noFill/>
                </a:ln>
                <a:effectLst/>
              </a:rPr>
              <a:t>Haar</a:t>
            </a:r>
            <a:r>
              <a:rPr kumimoji="0" lang="en-US" altLang="ru-KZ" sz="1200" i="0" u="none" strike="noStrike" cap="none" normalizeH="0" baseline="0" dirty="0">
                <a:ln>
                  <a:noFill/>
                </a:ln>
                <a:effectLst/>
              </a:rPr>
              <a:t> Cascade classifiers provide a fast and efficient method for object detection, particularly for faces. Their key advantages include high-speed detection, simplicity, and lower data requirements compared to deep learning models. Unlike CNNs, they do not require image rescaling, making them computationally efficient. Additionally, their decision-making process is more interpretable than modern black-box models. However, there are several limitations: training is slow, detection is mostly limited to frontal faces, and the method struggles with extreme lighting conditions. Moreover, it is a binary classification system, meaning it cannot distinguish between multiple object types simultaneously. Despite its drawbacks, the Viola-Jones algorithm remains widely used in applications such as camera viewfinders and social media filters (e.g., Snapchat, Instagram). Its balance between efficiency and simplicity ensures its continued relevance in real-world applications.</a:t>
            </a:r>
          </a:p>
        </p:txBody>
      </p:sp>
      <p:sp>
        <p:nvSpPr>
          <p:cNvPr id="5" name="TextBox 4">
            <a:extLst>
              <a:ext uri="{FF2B5EF4-FFF2-40B4-BE49-F238E27FC236}">
                <a16:creationId xmlns:a16="http://schemas.microsoft.com/office/drawing/2014/main" id="{8202C264-EC04-2A41-139E-6F79FCF84F3A}"/>
              </a:ext>
            </a:extLst>
          </p:cNvPr>
          <p:cNvSpPr txBox="1"/>
          <p:nvPr/>
        </p:nvSpPr>
        <p:spPr>
          <a:xfrm>
            <a:off x="7678993" y="944209"/>
            <a:ext cx="6096000" cy="705642"/>
          </a:xfrm>
          <a:prstGeom prst="rect">
            <a:avLst/>
          </a:prstGeom>
          <a:noFill/>
        </p:spPr>
        <p:txBody>
          <a:bodyPr wrap="square">
            <a:spAutoFit/>
          </a:bodyPr>
          <a:lstStyle/>
          <a:p>
            <a:pPr>
              <a:lnSpc>
                <a:spcPct val="90000"/>
              </a:lnSpc>
              <a:spcBef>
                <a:spcPct val="0"/>
              </a:spcBef>
              <a:spcAft>
                <a:spcPts val="600"/>
              </a:spcAft>
            </a:pPr>
            <a:r>
              <a:rPr lang="en-US" sz="4400" kern="1200" dirty="0">
                <a:solidFill>
                  <a:schemeClr val="tx1"/>
                </a:solidFill>
                <a:latin typeface="+mj-lt"/>
                <a:ea typeface="+mj-ea"/>
                <a:cs typeface="+mj-cs"/>
              </a:rPr>
              <a:t>Conclusion</a:t>
            </a:r>
          </a:p>
        </p:txBody>
      </p:sp>
    </p:spTree>
    <p:extLst>
      <p:ext uri="{BB962C8B-B14F-4D97-AF65-F5344CB8AC3E}">
        <p14:creationId xmlns:p14="http://schemas.microsoft.com/office/powerpoint/2010/main" val="835223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773E4A2A-FF90-4117-A71F-5329870BE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77386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84CFF86-A7A4-8CB7-FFBD-71943D2F07E1}"/>
              </a:ext>
            </a:extLst>
          </p:cNvPr>
          <p:cNvSpPr txBox="1"/>
          <p:nvPr/>
        </p:nvSpPr>
        <p:spPr>
          <a:xfrm>
            <a:off x="7655980" y="2349369"/>
            <a:ext cx="4029389" cy="1877437"/>
          </a:xfrm>
          <a:prstGeom prst="rect">
            <a:avLst/>
          </a:prstGeom>
          <a:noFill/>
        </p:spPr>
        <p:txBody>
          <a:bodyPr wrap="square" rtlCol="0">
            <a:spAutoFit/>
          </a:bodyPr>
          <a:lstStyle/>
          <a:p>
            <a:r>
              <a:rPr lang="en-US" sz="4000" dirty="0"/>
              <a:t>Do you have any questions?</a:t>
            </a:r>
            <a:endParaRPr lang="ru-RU" sz="4000" dirty="0"/>
          </a:p>
          <a:p>
            <a:endParaRPr lang="en-US" dirty="0"/>
          </a:p>
          <a:p>
            <a:r>
              <a:rPr lang="en-US" dirty="0"/>
              <a:t>(please don’t ask me anything)</a:t>
            </a:r>
            <a:endParaRPr lang="ru-KZ" dirty="0"/>
          </a:p>
        </p:txBody>
      </p:sp>
    </p:spTree>
    <p:extLst>
      <p:ext uri="{BB962C8B-B14F-4D97-AF65-F5344CB8AC3E}">
        <p14:creationId xmlns:p14="http://schemas.microsoft.com/office/powerpoint/2010/main" val="4155577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C63BFC-A86A-34F2-17C0-F11E60EEE38E}"/>
              </a:ext>
            </a:extLst>
          </p:cNvPr>
          <p:cNvSpPr txBox="1"/>
          <p:nvPr/>
        </p:nvSpPr>
        <p:spPr>
          <a:xfrm>
            <a:off x="7877908" y="2628725"/>
            <a:ext cx="3667648" cy="1446550"/>
          </a:xfrm>
          <a:prstGeom prst="rect">
            <a:avLst/>
          </a:prstGeom>
          <a:noFill/>
        </p:spPr>
        <p:txBody>
          <a:bodyPr wrap="square" rtlCol="0">
            <a:spAutoFit/>
          </a:bodyPr>
          <a:lstStyle/>
          <a:p>
            <a:r>
              <a:rPr lang="en-US" sz="4400" dirty="0"/>
              <a:t>Thank you for attention!</a:t>
            </a:r>
            <a:endParaRPr lang="ru-KZ" sz="4400" dirty="0"/>
          </a:p>
        </p:txBody>
      </p:sp>
      <p:pic>
        <p:nvPicPr>
          <p:cNvPr id="14340" name="Picture 4">
            <a:extLst>
              <a:ext uri="{FF2B5EF4-FFF2-40B4-BE49-F238E27FC236}">
                <a16:creationId xmlns:a16="http://schemas.microsoft.com/office/drawing/2014/main" id="{F8C1F9F8-D468-BB14-B808-0B6FE087FD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332" y="962025"/>
            <a:ext cx="7010400" cy="493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607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0597BB-FD20-0F1F-1E55-5F2D95ABA583}"/>
              </a:ext>
            </a:extLst>
          </p:cNvPr>
          <p:cNvSpPr txBox="1"/>
          <p:nvPr/>
        </p:nvSpPr>
        <p:spPr>
          <a:xfrm>
            <a:off x="1327355" y="1152521"/>
            <a:ext cx="6096000" cy="707886"/>
          </a:xfrm>
          <a:prstGeom prst="rect">
            <a:avLst/>
          </a:prstGeom>
          <a:noFill/>
        </p:spPr>
        <p:txBody>
          <a:bodyPr wrap="square">
            <a:spAutoFit/>
          </a:bodyPr>
          <a:lstStyle/>
          <a:p>
            <a:r>
              <a:rPr lang="en-US" sz="4000" dirty="0"/>
              <a:t>References</a:t>
            </a:r>
            <a:endParaRPr lang="ru-KZ" sz="4000" dirty="0"/>
          </a:p>
        </p:txBody>
      </p:sp>
      <p:sp>
        <p:nvSpPr>
          <p:cNvPr id="5" name="TextBox 4">
            <a:extLst>
              <a:ext uri="{FF2B5EF4-FFF2-40B4-BE49-F238E27FC236}">
                <a16:creationId xmlns:a16="http://schemas.microsoft.com/office/drawing/2014/main" id="{62FBF355-90E6-6D93-9705-0E2358FBA523}"/>
              </a:ext>
            </a:extLst>
          </p:cNvPr>
          <p:cNvSpPr txBox="1"/>
          <p:nvPr/>
        </p:nvSpPr>
        <p:spPr>
          <a:xfrm>
            <a:off x="1327354" y="2047257"/>
            <a:ext cx="8416413" cy="5632311"/>
          </a:xfrm>
          <a:prstGeom prst="rect">
            <a:avLst/>
          </a:prstGeom>
          <a:noFill/>
        </p:spPr>
        <p:txBody>
          <a:bodyPr wrap="square">
            <a:spAutoFit/>
          </a:bodyPr>
          <a:lstStyle/>
          <a:p>
            <a:pPr marL="342900" indent="-342900">
              <a:buAutoNum type="arabicPeriod"/>
            </a:pPr>
            <a:r>
              <a:rPr lang="en-US" dirty="0" err="1">
                <a:solidFill>
                  <a:srgbClr val="242424"/>
                </a:solidFill>
                <a:latin typeface="sohne"/>
              </a:rPr>
              <a:t>Geekforgeeks</a:t>
            </a:r>
            <a:r>
              <a:rPr lang="en-US" dirty="0">
                <a:solidFill>
                  <a:srgbClr val="242424"/>
                </a:solidFill>
                <a:latin typeface="sohne"/>
              </a:rPr>
              <a:t>. </a:t>
            </a:r>
            <a:r>
              <a:rPr lang="en-US" i="1" dirty="0">
                <a:solidFill>
                  <a:srgbClr val="273239"/>
                </a:solidFill>
                <a:effectLst/>
                <a:latin typeface="Source Sans 3"/>
              </a:rPr>
              <a:t>Face detection using Cascade Classifier using OpenCV-Python</a:t>
            </a:r>
            <a:r>
              <a:rPr lang="en-US" dirty="0">
                <a:solidFill>
                  <a:srgbClr val="273239"/>
                </a:solidFill>
                <a:effectLst/>
                <a:latin typeface="Source Sans 3"/>
              </a:rPr>
              <a:t>. – URL: </a:t>
            </a:r>
            <a:r>
              <a:rPr lang="en-US" dirty="0">
                <a:solidFill>
                  <a:srgbClr val="273239"/>
                </a:solidFill>
                <a:effectLst/>
                <a:latin typeface="Source Sans 3"/>
                <a:hlinkClick r:id="rId2"/>
              </a:rPr>
              <a:t>https://www.geeksforgeeks.org/face-detection-using-cascade-classifier-using-opencv-python/</a:t>
            </a:r>
            <a:r>
              <a:rPr lang="en-US" dirty="0">
                <a:solidFill>
                  <a:srgbClr val="273239"/>
                </a:solidFill>
                <a:effectLst/>
                <a:latin typeface="Source Sans 3"/>
              </a:rPr>
              <a:t> (03.10.2023)</a:t>
            </a:r>
            <a:endParaRPr lang="ru-RU" dirty="0">
              <a:solidFill>
                <a:srgbClr val="273239"/>
              </a:solidFill>
              <a:effectLst/>
              <a:latin typeface="Source Sans 3"/>
            </a:endParaRPr>
          </a:p>
          <a:p>
            <a:pPr marL="342900" indent="-342900">
              <a:buAutoNum type="arabicPeriod"/>
            </a:pPr>
            <a:r>
              <a:rPr lang="en-US" b="0" i="0" u="none" strike="noStrike" dirty="0">
                <a:effectLst/>
                <a:latin typeface="Inter"/>
                <a:hlinkClick r:id="rId3" tooltip="Posts by Great Learning Editorial Team"/>
              </a:rPr>
              <a:t>Great Learning Editorial Team</a:t>
            </a:r>
            <a:r>
              <a:rPr lang="en-US" b="1" i="0" u="none" strike="noStrike" dirty="0">
                <a:solidFill>
                  <a:srgbClr val="273239"/>
                </a:solidFill>
                <a:latin typeface="Source Sans 3"/>
              </a:rPr>
              <a:t>.</a:t>
            </a:r>
            <a:r>
              <a:rPr lang="ru-RU" b="1" i="0" u="none" strike="noStrike" dirty="0">
                <a:solidFill>
                  <a:srgbClr val="273239"/>
                </a:solidFill>
                <a:latin typeface="Source Sans 3"/>
              </a:rPr>
              <a:t> </a:t>
            </a:r>
            <a:r>
              <a:rPr lang="en-US" i="1" dirty="0">
                <a:effectLst/>
                <a:latin typeface="Inter"/>
              </a:rPr>
              <a:t>Face Detection using Viola Jones Algorithm</a:t>
            </a:r>
            <a:r>
              <a:rPr lang="ru-RU" i="1" dirty="0">
                <a:effectLst/>
                <a:latin typeface="Inter"/>
              </a:rPr>
              <a:t>. </a:t>
            </a:r>
            <a:r>
              <a:rPr lang="en-US" i="1" dirty="0">
                <a:effectLst/>
                <a:latin typeface="Inter"/>
              </a:rPr>
              <a:t>– </a:t>
            </a:r>
            <a:r>
              <a:rPr lang="en-US" dirty="0">
                <a:latin typeface="Inter"/>
              </a:rPr>
              <a:t>URL: </a:t>
            </a:r>
            <a:r>
              <a:rPr lang="en-US" dirty="0">
                <a:latin typeface="Inter"/>
                <a:hlinkClick r:id="rId4"/>
              </a:rPr>
              <a:t>https://www.mygreatlearning.com/blog/viola-jones-algorithm/</a:t>
            </a:r>
            <a:r>
              <a:rPr lang="en-US" dirty="0">
                <a:latin typeface="Inter"/>
              </a:rPr>
              <a:t> (02.09.2024)</a:t>
            </a:r>
          </a:p>
          <a:p>
            <a:pPr marL="342900" indent="-342900">
              <a:buFontTx/>
              <a:buAutoNum type="arabicPeriod"/>
            </a:pPr>
            <a:r>
              <a:rPr lang="en-US" dirty="0">
                <a:effectLst/>
                <a:latin typeface="Inter"/>
              </a:rPr>
              <a:t>Andrew D. </a:t>
            </a:r>
            <a:r>
              <a:rPr lang="fr-FR" i="1" dirty="0">
                <a:solidFill>
                  <a:srgbClr val="242424"/>
                </a:solidFill>
                <a:effectLst/>
                <a:latin typeface="sohne"/>
              </a:rPr>
              <a:t>Computer Vision: Viola-Jones Object </a:t>
            </a:r>
            <a:r>
              <a:rPr lang="fr-FR" i="1" dirty="0" err="1">
                <a:solidFill>
                  <a:srgbClr val="242424"/>
                </a:solidFill>
                <a:effectLst/>
                <a:latin typeface="sohne"/>
              </a:rPr>
              <a:t>Detection</a:t>
            </a:r>
            <a:r>
              <a:rPr lang="fr-FR" i="0" dirty="0">
                <a:solidFill>
                  <a:srgbClr val="242424"/>
                </a:solidFill>
                <a:effectLst/>
                <a:latin typeface="sohne"/>
              </a:rPr>
              <a:t>. – URL:</a:t>
            </a:r>
            <a:r>
              <a:rPr lang="ru-RU" i="0" dirty="0">
                <a:solidFill>
                  <a:srgbClr val="242424"/>
                </a:solidFill>
                <a:effectLst/>
                <a:latin typeface="sohne"/>
              </a:rPr>
              <a:t> </a:t>
            </a:r>
            <a:r>
              <a:rPr lang="en-US" i="0" dirty="0">
                <a:solidFill>
                  <a:srgbClr val="242424"/>
                </a:solidFill>
                <a:effectLst/>
                <a:latin typeface="sohne"/>
                <a:hlinkClick r:id="rId5"/>
              </a:rPr>
              <a:t>https://medium.com/@Andrew_D./computer-vision-viola-jones-object-detection-d2a609527b7c</a:t>
            </a:r>
            <a:r>
              <a:rPr lang="ru-RU" i="0" dirty="0">
                <a:solidFill>
                  <a:srgbClr val="242424"/>
                </a:solidFill>
                <a:effectLst/>
                <a:latin typeface="sohne"/>
              </a:rPr>
              <a:t> (07.12.2022)</a:t>
            </a:r>
          </a:p>
          <a:p>
            <a:pPr marL="342900" indent="-342900">
              <a:buFontTx/>
              <a:buAutoNum type="arabicPeriod"/>
            </a:pPr>
            <a:r>
              <a:rPr lang="en-US" i="0" dirty="0" err="1">
                <a:solidFill>
                  <a:srgbClr val="242424"/>
                </a:solidFill>
                <a:effectLst/>
                <a:latin typeface="sohne"/>
              </a:rPr>
              <a:t>Kamal_DS</a:t>
            </a:r>
            <a:r>
              <a:rPr lang="en-US" i="0" dirty="0">
                <a:solidFill>
                  <a:srgbClr val="242424"/>
                </a:solidFill>
                <a:effectLst/>
                <a:latin typeface="sohne"/>
              </a:rPr>
              <a:t>. </a:t>
            </a:r>
            <a:r>
              <a:rPr lang="en-US" i="1" dirty="0">
                <a:solidFill>
                  <a:srgbClr val="242424"/>
                </a:solidFill>
                <a:effectLst/>
                <a:latin typeface="sohne"/>
              </a:rPr>
              <a:t>Face Detection Using Viola Jones </a:t>
            </a:r>
            <a:r>
              <a:rPr lang="en-US" i="1" dirty="0" err="1">
                <a:solidFill>
                  <a:srgbClr val="242424"/>
                </a:solidFill>
                <a:effectLst/>
                <a:latin typeface="sohne"/>
              </a:rPr>
              <a:t>Haar_cascade</a:t>
            </a:r>
            <a:r>
              <a:rPr lang="en-US" i="1" dirty="0">
                <a:solidFill>
                  <a:srgbClr val="242424"/>
                </a:solidFill>
                <a:effectLst/>
                <a:latin typeface="sohne"/>
              </a:rPr>
              <a:t> Classifiers</a:t>
            </a:r>
            <a:r>
              <a:rPr lang="en-US" dirty="0">
                <a:solidFill>
                  <a:srgbClr val="242424"/>
                </a:solidFill>
                <a:effectLst/>
                <a:latin typeface="sohne"/>
              </a:rPr>
              <a:t>. – URL: </a:t>
            </a:r>
            <a:r>
              <a:rPr lang="en-US" dirty="0">
                <a:solidFill>
                  <a:srgbClr val="242424"/>
                </a:solidFill>
                <a:effectLst/>
                <a:latin typeface="sohne"/>
                <a:hlinkClick r:id="rId6"/>
              </a:rPr>
              <a:t>https://korlakuntasaikamal10.medium.com/face-detection-using-viola-jones-haar-cascade-classifiers-d514dc3e1709</a:t>
            </a:r>
            <a:r>
              <a:rPr lang="en-US" dirty="0">
                <a:solidFill>
                  <a:srgbClr val="242424"/>
                </a:solidFill>
                <a:effectLst/>
                <a:latin typeface="sohne"/>
              </a:rPr>
              <a:t> (21.02.2023)</a:t>
            </a:r>
          </a:p>
          <a:p>
            <a:pPr marL="342900" indent="-342900">
              <a:buFontTx/>
              <a:buAutoNum type="arabicPeriod"/>
            </a:pPr>
            <a:r>
              <a:rPr lang="en-US" dirty="0" err="1">
                <a:solidFill>
                  <a:srgbClr val="242424"/>
                </a:solidFill>
                <a:effectLst/>
                <a:latin typeface="sohne"/>
              </a:rPr>
              <a:t>A</a:t>
            </a:r>
            <a:r>
              <a:rPr lang="en-US" dirty="0" err="1">
                <a:solidFill>
                  <a:srgbClr val="242424"/>
                </a:solidFill>
                <a:latin typeface="sohne"/>
              </a:rPr>
              <a:t>aronWard</a:t>
            </a:r>
            <a:r>
              <a:rPr lang="en-US" dirty="0">
                <a:solidFill>
                  <a:srgbClr val="242424"/>
                </a:solidFill>
                <a:latin typeface="sohne"/>
              </a:rPr>
              <a:t>. </a:t>
            </a:r>
            <a:r>
              <a:rPr lang="en-US" i="1" dirty="0">
                <a:solidFill>
                  <a:srgbClr val="242424"/>
                </a:solidFill>
                <a:effectLst/>
                <a:latin typeface="sohne"/>
              </a:rPr>
              <a:t>Facial Detection — Understanding Viola Jones’ Algorithm</a:t>
            </a:r>
            <a:r>
              <a:rPr lang="en-US" dirty="0">
                <a:solidFill>
                  <a:srgbClr val="242424"/>
                </a:solidFill>
                <a:effectLst/>
                <a:latin typeface="sohne"/>
              </a:rPr>
              <a:t>. </a:t>
            </a:r>
            <a:r>
              <a:rPr lang="en-US">
                <a:solidFill>
                  <a:srgbClr val="242424"/>
                </a:solidFill>
                <a:effectLst/>
                <a:latin typeface="sohne"/>
              </a:rPr>
              <a:t>– URL: </a:t>
            </a:r>
            <a:r>
              <a:rPr lang="en-US">
                <a:solidFill>
                  <a:srgbClr val="242424"/>
                </a:solidFill>
                <a:effectLst/>
                <a:latin typeface="sohne"/>
                <a:hlinkClick r:id="rId7"/>
              </a:rPr>
              <a:t>https://medium.com/@aaronward6210/facial-detection-understanding-viola-jones-algorithm-116d1a9db218</a:t>
            </a:r>
            <a:r>
              <a:rPr lang="en-US">
                <a:solidFill>
                  <a:srgbClr val="242424"/>
                </a:solidFill>
                <a:effectLst/>
                <a:latin typeface="sohne"/>
              </a:rPr>
              <a:t> (25.01.2020)</a:t>
            </a:r>
            <a:endParaRPr lang="en-US" i="1" dirty="0">
              <a:solidFill>
                <a:srgbClr val="242424"/>
              </a:solidFill>
              <a:effectLst/>
              <a:latin typeface="sohne"/>
            </a:endParaRPr>
          </a:p>
          <a:p>
            <a:pPr marL="342900" indent="-342900">
              <a:buFontTx/>
              <a:buAutoNum type="arabicPeriod"/>
            </a:pPr>
            <a:endParaRPr lang="en-US" dirty="0">
              <a:solidFill>
                <a:srgbClr val="242424"/>
              </a:solidFill>
              <a:effectLst/>
              <a:latin typeface="sohne"/>
            </a:endParaRPr>
          </a:p>
          <a:p>
            <a:pPr marL="342900" indent="-342900">
              <a:buFontTx/>
              <a:buAutoNum type="arabicPeriod"/>
            </a:pPr>
            <a:endParaRPr lang="fr-FR" i="0" dirty="0">
              <a:solidFill>
                <a:srgbClr val="242424"/>
              </a:solidFill>
              <a:effectLst/>
              <a:latin typeface="sohne"/>
            </a:endParaRPr>
          </a:p>
          <a:p>
            <a:pPr marL="342900" indent="-342900">
              <a:buAutoNum type="arabicPeriod"/>
            </a:pPr>
            <a:endParaRPr lang="en-US" dirty="0">
              <a:effectLst/>
              <a:latin typeface="Inter"/>
            </a:endParaRPr>
          </a:p>
          <a:p>
            <a:br>
              <a:rPr lang="en-US" b="0" i="0" dirty="0">
                <a:solidFill>
                  <a:srgbClr val="444444"/>
                </a:solidFill>
                <a:effectLst/>
                <a:latin typeface="Inter"/>
              </a:rPr>
            </a:br>
            <a:endParaRPr lang="en-US" i="1" dirty="0">
              <a:solidFill>
                <a:srgbClr val="273239"/>
              </a:solidFill>
              <a:effectLst/>
              <a:latin typeface="Source Sans 3"/>
            </a:endParaRPr>
          </a:p>
          <a:p>
            <a:endParaRPr lang="ru-KZ" dirty="0"/>
          </a:p>
        </p:txBody>
      </p:sp>
    </p:spTree>
    <p:extLst>
      <p:ext uri="{BB962C8B-B14F-4D97-AF65-F5344CB8AC3E}">
        <p14:creationId xmlns:p14="http://schemas.microsoft.com/office/powerpoint/2010/main" val="330483178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657</TotalTime>
  <Words>1644</Words>
  <Application>Microsoft Office PowerPoint</Application>
  <PresentationFormat>Широкоэкранный</PresentationFormat>
  <Paragraphs>87</Paragraphs>
  <Slides>18</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18</vt:i4>
      </vt:variant>
    </vt:vector>
  </HeadingPairs>
  <TitlesOfParts>
    <vt:vector size="27" baseType="lpstr">
      <vt:lpstr>Aptos</vt:lpstr>
      <vt:lpstr>Aptos Display</vt:lpstr>
      <vt:lpstr>Arial</vt:lpstr>
      <vt:lpstr>Calibri</vt:lpstr>
      <vt:lpstr>Inter</vt:lpstr>
      <vt:lpstr>sohne</vt:lpstr>
      <vt:lpstr>Source Sans 3</vt:lpstr>
      <vt:lpstr>source-serif-pro</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mm kk</dc:creator>
  <cp:lastModifiedBy>mm kk</cp:lastModifiedBy>
  <cp:revision>1</cp:revision>
  <dcterms:created xsi:type="dcterms:W3CDTF">2025-02-12T08:39:36Z</dcterms:created>
  <dcterms:modified xsi:type="dcterms:W3CDTF">2025-02-12T19:42:29Z</dcterms:modified>
</cp:coreProperties>
</file>